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sldIdLst>
    <p:sldId id="256" r:id="rId5"/>
    <p:sldId id="257" r:id="rId6"/>
    <p:sldId id="260" r:id="rId7"/>
    <p:sldId id="259" r:id="rId8"/>
    <p:sldId id="261" r:id="rId9"/>
    <p:sldId id="258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A900"/>
    <a:srgbClr val="EEB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B27EC7-72B1-41EE-81FD-8B3EAF16BAC9}" v="136" dt="2022-05-17T15:18:51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ICIUS VALERO CHABARIBERI" userId="b785fe46-58ef-49b7-85a3-efd684779404" providerId="ADAL" clId="{ADB27EC7-72B1-41EE-81FD-8B3EAF16BAC9}"/>
    <pc:docChg chg="custSel modSld">
      <pc:chgData name="VINICIUS VALERO CHABARIBERI" userId="b785fe46-58ef-49b7-85a3-efd684779404" providerId="ADAL" clId="{ADB27EC7-72B1-41EE-81FD-8B3EAF16BAC9}" dt="2022-05-17T15:18:51.406" v="127" actId="1076"/>
      <pc:docMkLst>
        <pc:docMk/>
      </pc:docMkLst>
      <pc:sldChg chg="addSp modSp mod modAnim">
        <pc:chgData name="VINICIUS VALERO CHABARIBERI" userId="b785fe46-58ef-49b7-85a3-efd684779404" providerId="ADAL" clId="{ADB27EC7-72B1-41EE-81FD-8B3EAF16BAC9}" dt="2022-05-17T15:04:50.096" v="114" actId="20577"/>
        <pc:sldMkLst>
          <pc:docMk/>
          <pc:sldMk cId="4280677548" sldId="256"/>
        </pc:sldMkLst>
        <pc:spChg chg="mod">
          <ac:chgData name="VINICIUS VALERO CHABARIBERI" userId="b785fe46-58ef-49b7-85a3-efd684779404" providerId="ADAL" clId="{ADB27EC7-72B1-41EE-81FD-8B3EAF16BAC9}" dt="2022-05-17T15:04:02.753" v="47" actId="20577"/>
          <ac:spMkLst>
            <pc:docMk/>
            <pc:sldMk cId="4280677548" sldId="256"/>
            <ac:spMk id="3" creationId="{FAF9C1A9-5FB0-A9AE-C113-1ED15B3B7F03}"/>
          </ac:spMkLst>
        </pc:spChg>
        <pc:spChg chg="add mod">
          <ac:chgData name="VINICIUS VALERO CHABARIBERI" userId="b785fe46-58ef-49b7-85a3-efd684779404" providerId="ADAL" clId="{ADB27EC7-72B1-41EE-81FD-8B3EAF16BAC9}" dt="2022-05-17T15:04:50.096" v="114" actId="20577"/>
          <ac:spMkLst>
            <pc:docMk/>
            <pc:sldMk cId="4280677548" sldId="256"/>
            <ac:spMk id="5" creationId="{0A651B5B-472C-7F61-8820-37B2571728A3}"/>
          </ac:spMkLst>
        </pc:spChg>
      </pc:sldChg>
      <pc:sldChg chg="addSp delSp modSp mod delAnim modAnim">
        <pc:chgData name="VINICIUS VALERO CHABARIBERI" userId="b785fe46-58ef-49b7-85a3-efd684779404" providerId="ADAL" clId="{ADB27EC7-72B1-41EE-81FD-8B3EAF16BAC9}" dt="2022-05-17T15:17:02.125" v="117" actId="21"/>
        <pc:sldMkLst>
          <pc:docMk/>
          <pc:sldMk cId="2316618000" sldId="258"/>
        </pc:sldMkLst>
        <pc:spChg chg="del">
          <ac:chgData name="VINICIUS VALERO CHABARIBERI" userId="b785fe46-58ef-49b7-85a3-efd684779404" providerId="ADAL" clId="{ADB27EC7-72B1-41EE-81FD-8B3EAF16BAC9}" dt="2022-05-17T15:16:41.864" v="115"/>
          <ac:spMkLst>
            <pc:docMk/>
            <pc:sldMk cId="2316618000" sldId="258"/>
            <ac:spMk id="3" creationId="{64FDB1D3-64A2-D451-660B-04FA7F880B01}"/>
          </ac:spMkLst>
        </pc:spChg>
        <pc:picChg chg="del mod">
          <ac:chgData name="VINICIUS VALERO CHABARIBERI" userId="b785fe46-58ef-49b7-85a3-efd684779404" providerId="ADAL" clId="{ADB27EC7-72B1-41EE-81FD-8B3EAF16BAC9}" dt="2022-05-17T15:17:02.125" v="117" actId="21"/>
          <ac:picMkLst>
            <pc:docMk/>
            <pc:sldMk cId="2316618000" sldId="258"/>
            <ac:picMk id="4" creationId="{C5F50F28-94B1-201C-E9E7-A022D3CA7927}"/>
          </ac:picMkLst>
        </pc:picChg>
        <pc:picChg chg="add mod">
          <ac:chgData name="VINICIUS VALERO CHABARIBERI" userId="b785fe46-58ef-49b7-85a3-efd684779404" providerId="ADAL" clId="{ADB27EC7-72B1-41EE-81FD-8B3EAF16BAC9}" dt="2022-05-17T15:16:41.864" v="115"/>
          <ac:picMkLst>
            <pc:docMk/>
            <pc:sldMk cId="2316618000" sldId="258"/>
            <ac:picMk id="5" creationId="{9CBCFEBD-52E5-55E6-392F-6DE9E9E1539C}"/>
          </ac:picMkLst>
        </pc:picChg>
      </pc:sldChg>
      <pc:sldChg chg="addSp delSp modSp mod delAnim modAnim">
        <pc:chgData name="VINICIUS VALERO CHABARIBERI" userId="b785fe46-58ef-49b7-85a3-efd684779404" providerId="ADAL" clId="{ADB27EC7-72B1-41EE-81FD-8B3EAF16BAC9}" dt="2022-05-17T15:18:51.406" v="127" actId="1076"/>
        <pc:sldMkLst>
          <pc:docMk/>
          <pc:sldMk cId="2332734013" sldId="268"/>
        </pc:sldMkLst>
        <pc:picChg chg="add mod">
          <ac:chgData name="VINICIUS VALERO CHABARIBERI" userId="b785fe46-58ef-49b7-85a3-efd684779404" providerId="ADAL" clId="{ADB27EC7-72B1-41EE-81FD-8B3EAF16BAC9}" dt="2022-05-17T15:18:45.825" v="126" actId="1076"/>
          <ac:picMkLst>
            <pc:docMk/>
            <pc:sldMk cId="2332734013" sldId="268"/>
            <ac:picMk id="3" creationId="{23A9AD4B-6463-67F1-9457-9FDC22595DD5}"/>
          </ac:picMkLst>
        </pc:picChg>
        <pc:picChg chg="mod">
          <ac:chgData name="VINICIUS VALERO CHABARIBERI" userId="b785fe46-58ef-49b7-85a3-efd684779404" providerId="ADAL" clId="{ADB27EC7-72B1-41EE-81FD-8B3EAF16BAC9}" dt="2022-05-17T15:18:51.406" v="127" actId="1076"/>
          <ac:picMkLst>
            <pc:docMk/>
            <pc:sldMk cId="2332734013" sldId="268"/>
            <ac:picMk id="8" creationId="{4DD711B0-63BA-F060-E863-3CEBB903872F}"/>
          </ac:picMkLst>
        </pc:picChg>
        <pc:picChg chg="del">
          <ac:chgData name="VINICIUS VALERO CHABARIBERI" userId="b785fe46-58ef-49b7-85a3-efd684779404" providerId="ADAL" clId="{ADB27EC7-72B1-41EE-81FD-8B3EAF16BAC9}" dt="2022-05-17T15:18:22.659" v="119" actId="21"/>
          <ac:picMkLst>
            <pc:docMk/>
            <pc:sldMk cId="2332734013" sldId="268"/>
            <ac:picMk id="14" creationId="{BE61373F-16AC-F6B8-3470-7D1976C9D64C}"/>
          </ac:picMkLst>
        </pc:picChg>
      </pc:sldChg>
      <pc:sldChg chg="modSp mod">
        <pc:chgData name="VINICIUS VALERO CHABARIBERI" userId="b785fe46-58ef-49b7-85a3-efd684779404" providerId="ADAL" clId="{ADB27EC7-72B1-41EE-81FD-8B3EAF16BAC9}" dt="2022-05-17T15:03:16.222" v="11" actId="2711"/>
        <pc:sldMkLst>
          <pc:docMk/>
          <pc:sldMk cId="1627521533" sldId="271"/>
        </pc:sldMkLst>
        <pc:spChg chg="mod">
          <ac:chgData name="VINICIUS VALERO CHABARIBERI" userId="b785fe46-58ef-49b7-85a3-efd684779404" providerId="ADAL" clId="{ADB27EC7-72B1-41EE-81FD-8B3EAF16BAC9}" dt="2022-05-17T15:03:16.222" v="11" actId="2711"/>
          <ac:spMkLst>
            <pc:docMk/>
            <pc:sldMk cId="1627521533" sldId="271"/>
            <ac:spMk id="2" creationId="{5F2F477A-8984-9B3F-1735-0629759966C7}"/>
          </ac:spMkLst>
        </pc:spChg>
        <pc:spChg chg="mod">
          <ac:chgData name="VINICIUS VALERO CHABARIBERI" userId="b785fe46-58ef-49b7-85a3-efd684779404" providerId="ADAL" clId="{ADB27EC7-72B1-41EE-81FD-8B3EAF16BAC9}" dt="2022-05-17T15:02:41.364" v="8" actId="14100"/>
          <ac:spMkLst>
            <pc:docMk/>
            <pc:sldMk cId="1627521533" sldId="271"/>
            <ac:spMk id="3" creationId="{812F463E-2DD4-8AAE-1939-46300253EAB9}"/>
          </ac:spMkLst>
        </pc:spChg>
      </pc:sldChg>
    </pc:docChg>
  </pc:docChgLst>
  <pc:docChgLst>
    <pc:chgData name="VINICIUS CHABARIBERI" userId="b785fe46-58ef-49b7-85a3-efd684779404" providerId="ADAL" clId="{0429BB90-E642-F644-BF00-95393961CF4F}"/>
    <pc:docChg chg="custSel addSld modSld">
      <pc:chgData name="VINICIUS CHABARIBERI" userId="b785fe46-58ef-49b7-85a3-efd684779404" providerId="ADAL" clId="{0429BB90-E642-F644-BF00-95393961CF4F}" dt="2022-05-17T14:57:42.533" v="58" actId="20577"/>
      <pc:docMkLst>
        <pc:docMk/>
      </pc:docMkLst>
      <pc:sldChg chg="modSp new">
        <pc:chgData name="VINICIUS CHABARIBERI" userId="b785fe46-58ef-49b7-85a3-efd684779404" providerId="ADAL" clId="{0429BB90-E642-F644-BF00-95393961CF4F}" dt="2022-05-17T14:57:42.533" v="58" actId="20577"/>
        <pc:sldMkLst>
          <pc:docMk/>
          <pc:sldMk cId="1627521533" sldId="271"/>
        </pc:sldMkLst>
        <pc:spChg chg="mod">
          <ac:chgData name="VINICIUS CHABARIBERI" userId="b785fe46-58ef-49b7-85a3-efd684779404" providerId="ADAL" clId="{0429BB90-E642-F644-BF00-95393961CF4F}" dt="2022-05-17T14:57:42.533" v="58" actId="20577"/>
          <ac:spMkLst>
            <pc:docMk/>
            <pc:sldMk cId="1627521533" sldId="271"/>
            <ac:spMk id="2" creationId="{5F2F477A-8984-9B3F-1735-0629759966C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0013" y="484479"/>
            <a:ext cx="6911974" cy="2954655"/>
          </a:xfrm>
        </p:spPr>
        <p:txBody>
          <a:bodyPr anchor="b">
            <a:normAutofit/>
          </a:bodyPr>
          <a:lstStyle>
            <a:lvl1pPr algn="ctr">
              <a:defRPr sz="5600" spc="-1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0013" y="3799133"/>
            <a:ext cx="6911974" cy="1969841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395C5C9-164C-46B3-A87E-7660D39D3106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83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00" y="2541600"/>
            <a:ext cx="10728325" cy="32273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4DDCFF8A-AAF8-4A12-8A91-9CA0EAF6CBB9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853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6" cy="2879724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910" y="3858924"/>
            <a:ext cx="10728326" cy="1919076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ABCC25C3-021A-4B0B-8F70-0C181FE1CF45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1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58400" y="2541600"/>
            <a:ext cx="5003801" cy="3234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C23D88D-8CEC-4ED9-A53B-5596187D9A16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2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5" cy="673005"/>
          </a:xfrm>
        </p:spPr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840698"/>
            <a:ext cx="5015638" cy="565796"/>
          </a:xfrm>
        </p:spPr>
        <p:txBody>
          <a:bodyPr wrap="square"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00" y="2541600"/>
            <a:ext cx="5003801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400" y="1840698"/>
            <a:ext cx="5015638" cy="565796"/>
          </a:xfrm>
        </p:spPr>
        <p:txBody>
          <a:bodyPr anchor="b">
            <a:normAutofit/>
          </a:bodyPr>
          <a:lstStyle>
            <a:lvl1pPr marL="0" indent="0">
              <a:lnSpc>
                <a:spcPct val="120000"/>
              </a:lnSpc>
              <a:buNone/>
              <a:defRPr sz="16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400" y="2541600"/>
            <a:ext cx="5003800" cy="3234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D2CCD382-DFDA-4722-A27A-59C21AD112F2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48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22F2A30D-1C09-413F-AAB1-38F366000715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31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6DB82B9C-D65E-4F64-95C3-B10F3B00F0D9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845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107463" cy="1477328"/>
          </a:xfrm>
        </p:spPr>
        <p:txBody>
          <a:bodyPr anchor="t" anchorCtr="0">
            <a:normAutofit/>
          </a:bodyPr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8188" y="584662"/>
            <a:ext cx="6911974" cy="51843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4800"/>
            </a:lvl1pPr>
            <a:lvl2pPr marL="914400" indent="-457200"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107463" cy="32318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B7F5FDCC-6AAC-4A08-B9E0-3793AB5E64C3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77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3095626" cy="14760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8188" y="728664"/>
            <a:ext cx="6923812" cy="504031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00" y="2541600"/>
            <a:ext cx="3095625" cy="3232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349FE94D-439C-40F1-900E-BC07940E3988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45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00" y="2636838"/>
            <a:ext cx="10728325" cy="31321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5B75179A-1E2B-41AB-B400-4F1B4022FAEE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15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40486" y="720000"/>
            <a:ext cx="1477328" cy="5048975"/>
          </a:xfrm>
        </p:spPr>
        <p:txBody>
          <a:bodyPr vert="eaVert"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838" y="720000"/>
            <a:ext cx="8929614" cy="5048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/>
          <a:lstStyle/>
          <a:p>
            <a:fld id="{05681D0F-6595-4F14-8EF3-954CD87C797B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/>
          <a:lstStyle/>
          <a:p>
            <a:fld id="{1621B6DD-29C1-4FEA-923F-71EA134769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95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646535-AEF6-4883-A4F9-EEC1F8B431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2541600"/>
            <a:ext cx="10728325" cy="32273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837" y="6138000"/>
            <a:ext cx="3095626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l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DEA2CF1-0EB2-4673-802D-3371233E4A77}" type="datetime2">
              <a:rPr lang="en-US" smtClean="0"/>
              <a:t>Tuesday, May 17, 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8188" y="6138000"/>
            <a:ext cx="5003800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ct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algn="l"/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2713" y="6138000"/>
            <a:ext cx="1187449" cy="720000"/>
          </a:xfrm>
          <a:prstGeom prst="rect">
            <a:avLst/>
          </a:prstGeom>
        </p:spPr>
        <p:txBody>
          <a:bodyPr vert="horz" lIns="0" tIns="180000" rIns="0" bIns="180000" rtlCol="0" anchor="ctr"/>
          <a:lstStyle>
            <a:lvl1pPr algn="r">
              <a:lnSpc>
                <a:spcPct val="120000"/>
              </a:lnSpc>
              <a:defRPr sz="120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621B6DD-29C1-4FEA-923F-71EA1347694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308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4"/>
        </a:buClr>
        <a:buFont typeface="The Hand Extrablack" panose="03070A02030502020204" pitchFamily="66" charset="0"/>
        <a:buChar char="•"/>
        <a:defRPr sz="2000" kern="1200" spc="20" baseline="0">
          <a:solidFill>
            <a:schemeClr val="tx1">
              <a:alpha val="58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pkcJEvMcnEg?feature=oembed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J8vg6M9EWp8?start=97&amp;feature=oembed" TargetMode="External"/><Relationship Id="rId4" Type="http://schemas.openxmlformats.org/officeDocument/2006/relationships/image" Target="../media/image16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2DFF2D-EA41-4CBE-9659-C2917E488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0D0D8C-AD12-C9D5-43DF-07B233C2C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720000"/>
            <a:ext cx="5015638" cy="2804400"/>
          </a:xfrm>
        </p:spPr>
        <p:txBody>
          <a:bodyPr>
            <a:normAutofit/>
          </a:bodyPr>
          <a:lstStyle/>
          <a:p>
            <a:r>
              <a:rPr lang="pt-BR"/>
              <a:t>Química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F9C1A9-5FB0-A9AE-C113-1ED15B3B7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000" y="3830399"/>
            <a:ext cx="5015638" cy="1936800"/>
          </a:xfrm>
        </p:spPr>
        <p:txBody>
          <a:bodyPr>
            <a:normAutofit/>
          </a:bodyPr>
          <a:lstStyle/>
          <a:p>
            <a:r>
              <a:rPr lang="pt-BR"/>
              <a:t>A primeira família da tabela periódica</a:t>
            </a:r>
          </a:p>
        </p:txBody>
      </p:sp>
      <p:pic>
        <p:nvPicPr>
          <p:cNvPr id="4" name="Picture 3" descr="Close de béquers com soluções em uma prateleira em um laboratório">
            <a:extLst>
              <a:ext uri="{FF2B5EF4-FFF2-40B4-BE49-F238E27FC236}">
                <a16:creationId xmlns:a16="http://schemas.microsoft.com/office/drawing/2014/main" id="{8C695D3C-1599-C48C-C39F-210D40BCBC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4881" b="-1"/>
          <a:stretch/>
        </p:blipFill>
        <p:spPr>
          <a:xfrm>
            <a:off x="6529067" y="10"/>
            <a:ext cx="5662935" cy="6857990"/>
          </a:xfrm>
          <a:custGeom>
            <a:avLst/>
            <a:gdLst/>
            <a:ahLst/>
            <a:cxnLst/>
            <a:rect l="l" t="t" r="r" b="b"/>
            <a:pathLst>
              <a:path w="5662935" h="6858000">
                <a:moveTo>
                  <a:pt x="598332" y="0"/>
                </a:moveTo>
                <a:lnTo>
                  <a:pt x="5662935" y="0"/>
                </a:lnTo>
                <a:lnTo>
                  <a:pt x="5662935" y="6858000"/>
                </a:lnTo>
                <a:lnTo>
                  <a:pt x="0" y="6858000"/>
                </a:lnTo>
                <a:lnTo>
                  <a:pt x="78957" y="6777438"/>
                </a:lnTo>
                <a:cubicBezTo>
                  <a:pt x="291624" y="6544265"/>
                  <a:pt x="490445" y="6275955"/>
                  <a:pt x="672224" y="5969316"/>
                </a:cubicBezTo>
                <a:cubicBezTo>
                  <a:pt x="914597" y="5515036"/>
                  <a:pt x="1066080" y="5030470"/>
                  <a:pt x="1217563" y="4515619"/>
                </a:cubicBezTo>
                <a:cubicBezTo>
                  <a:pt x="1338748" y="3970483"/>
                  <a:pt x="1399341" y="3516203"/>
                  <a:pt x="1399341" y="3061922"/>
                </a:cubicBezTo>
                <a:cubicBezTo>
                  <a:pt x="1399341" y="1948936"/>
                  <a:pt x="1190580" y="1021447"/>
                  <a:pt x="773055" y="279455"/>
                </a:cubicBezTo>
                <a:close/>
              </a:path>
            </a:pathLst>
          </a:cu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A651B5B-472C-7F61-8820-37B2571728A3}"/>
              </a:ext>
            </a:extLst>
          </p:cNvPr>
          <p:cNvSpPr txBox="1"/>
          <p:nvPr/>
        </p:nvSpPr>
        <p:spPr>
          <a:xfrm>
            <a:off x="249382" y="6138000"/>
            <a:ext cx="7338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Feito por: Henrique, Vinicius, Miguel, Rebeca, Giovanna, Victor</a:t>
            </a:r>
          </a:p>
        </p:txBody>
      </p:sp>
    </p:spTree>
    <p:extLst>
      <p:ext uri="{BB962C8B-B14F-4D97-AF65-F5344CB8AC3E}">
        <p14:creationId xmlns:p14="http://schemas.microsoft.com/office/powerpoint/2010/main" val="428067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95263-5D88-DE2A-9DDC-8BA5B5FAD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27378"/>
            <a:ext cx="10728322" cy="1769150"/>
          </a:xfrm>
        </p:spPr>
        <p:txBody>
          <a:bodyPr>
            <a:normAutofit/>
          </a:bodyPr>
          <a:lstStyle/>
          <a:p>
            <a:pPr algn="ctr"/>
            <a:r>
              <a:rPr lang="pt-BR" sz="4000">
                <a:latin typeface="Arial Black" panose="020B0A04020102020204" pitchFamily="34" charset="0"/>
              </a:rPr>
              <a:t>Tabela</a:t>
            </a:r>
            <a:r>
              <a:rPr lang="pt-BR" sz="4000"/>
              <a:t>   </a:t>
            </a:r>
            <a:r>
              <a:rPr lang="pt-BR" sz="4000">
                <a:latin typeface="Arial Black" panose="020B0A04020102020204" pitchFamily="34" charset="0"/>
              </a:rPr>
              <a:t>periódica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33515440-83F4-CBF5-CE98-854D156CC8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379" y="1007908"/>
            <a:ext cx="10419621" cy="5167237"/>
          </a:xfrm>
          <a:prstGeom prst="rect">
            <a:avLst/>
          </a:prstGeom>
        </p:spPr>
      </p:pic>
      <p:sp>
        <p:nvSpPr>
          <p:cNvPr id="5" name="Fluxograma: Conector 4">
            <a:extLst>
              <a:ext uri="{FF2B5EF4-FFF2-40B4-BE49-F238E27FC236}">
                <a16:creationId xmlns:a16="http://schemas.microsoft.com/office/drawing/2014/main" id="{39A064F3-3008-82BA-BD8B-91FC6AA9A8FB}"/>
              </a:ext>
            </a:extLst>
          </p:cNvPr>
          <p:cNvSpPr/>
          <p:nvPr/>
        </p:nvSpPr>
        <p:spPr>
          <a:xfrm>
            <a:off x="2009422" y="6378222"/>
            <a:ext cx="349956" cy="338667"/>
          </a:xfrm>
          <a:prstGeom prst="flowChartConnector">
            <a:avLst/>
          </a:prstGeom>
          <a:solidFill>
            <a:srgbClr val="DEA9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7E58139-DC78-A928-E5CA-8B946696FBFC}"/>
              </a:ext>
            </a:extLst>
          </p:cNvPr>
          <p:cNvSpPr txBox="1"/>
          <p:nvPr/>
        </p:nvSpPr>
        <p:spPr>
          <a:xfrm>
            <a:off x="2652888" y="6378222"/>
            <a:ext cx="1693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>
                <a:latin typeface="Arial Black" panose="020B0A04020102020204" pitchFamily="34" charset="0"/>
              </a:rPr>
              <a:t>- Família</a:t>
            </a:r>
            <a:r>
              <a:rPr lang="pt-BR"/>
              <a:t> </a:t>
            </a:r>
            <a:r>
              <a:rPr lang="pt-BR">
                <a:latin typeface="Arial Black" panose="020B0A04020102020204" pitchFamily="34" charset="0"/>
              </a:rPr>
              <a:t>1A</a:t>
            </a:r>
          </a:p>
        </p:txBody>
      </p:sp>
    </p:spTree>
    <p:extLst>
      <p:ext uri="{BB962C8B-B14F-4D97-AF65-F5344CB8AC3E}">
        <p14:creationId xmlns:p14="http://schemas.microsoft.com/office/powerpoint/2010/main" val="4169375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0CEE4-1CF3-FCD8-7B9D-77D412B4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007378"/>
          </a:xfrm>
        </p:spPr>
        <p:txBody>
          <a:bodyPr/>
          <a:lstStyle/>
          <a:p>
            <a:r>
              <a:rPr lang="pt-BR" sz="4000">
                <a:latin typeface="Bahnschrift SemiBold" panose="020B0502040204020203" pitchFamily="34" charset="0"/>
              </a:rPr>
              <a:t>Família 1A da tabela periódica</a:t>
            </a:r>
            <a:br>
              <a:rPr lang="pt-BR"/>
            </a:br>
            <a:br>
              <a:rPr lang="pt-BR"/>
            </a:br>
            <a:r>
              <a:rPr lang="pt-BR"/>
              <a:t>Características: </a:t>
            </a:r>
            <a:br>
              <a:rPr lang="pt-BR"/>
            </a:br>
            <a:br>
              <a:rPr lang="pt-BR"/>
            </a:br>
            <a:r>
              <a:rPr lang="pt-BR"/>
              <a:t>- Todos os elementos explodem em contato com a água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r>
              <a:rPr lang="pt-BR"/>
              <a:t>- Eles possuem  1 elétron de valência em sua distribuição eletrônica</a:t>
            </a:r>
          </a:p>
        </p:txBody>
      </p:sp>
      <p:pic>
        <p:nvPicPr>
          <p:cNvPr id="6" name="Espaço Reservado para Conteúdo 5" descr="Uma imagem contendo xícara, grama, mesa, bebida&#10;&#10;Descrição gerada automaticamente">
            <a:extLst>
              <a:ext uri="{FF2B5EF4-FFF2-40B4-BE49-F238E27FC236}">
                <a16:creationId xmlns:a16="http://schemas.microsoft.com/office/drawing/2014/main" id="{9165D6F5-BB36-7E2F-F41E-112866877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302" y="3310102"/>
            <a:ext cx="3798165" cy="1926917"/>
          </a:xfrm>
        </p:spPr>
      </p:pic>
    </p:spTree>
    <p:extLst>
      <p:ext uri="{BB962C8B-B14F-4D97-AF65-F5344CB8AC3E}">
        <p14:creationId xmlns:p14="http://schemas.microsoft.com/office/powerpoint/2010/main" val="196462333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BCCBF-CFC7-96DC-9063-9C3932C1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238800"/>
          </a:xfrm>
        </p:spPr>
        <p:txBody>
          <a:bodyPr>
            <a:normAutofit fontScale="90000"/>
          </a:bodyPr>
          <a:lstStyle/>
          <a:p>
            <a:r>
              <a:rPr lang="pt-BR" sz="4400">
                <a:latin typeface="Bahnschrift SemiBold" panose="020B0502040204020203" pitchFamily="34" charset="0"/>
              </a:rPr>
              <a:t>Lítio, o que é?</a:t>
            </a:r>
            <a:br>
              <a:rPr lang="pt-BR">
                <a:latin typeface="Bahnschrift SemiBold" panose="020B0502040204020203" pitchFamily="34" charset="0"/>
              </a:rPr>
            </a:br>
            <a:br>
              <a:rPr lang="pt-BR"/>
            </a:br>
            <a:r>
              <a:rPr lang="pt-BR"/>
              <a:t>- Terceiro elemento químico da tabela </a:t>
            </a:r>
            <a:br>
              <a:rPr lang="pt-BR"/>
            </a:br>
            <a:r>
              <a:rPr lang="pt-BR"/>
              <a:t>periódica (Li) com número atômico 3</a:t>
            </a:r>
            <a:br>
              <a:rPr lang="pt-BR"/>
            </a:br>
            <a:br>
              <a:rPr lang="pt-BR"/>
            </a:br>
            <a:r>
              <a:rPr lang="pt-BR"/>
              <a:t>- Raio atômico: 152pm</a:t>
            </a:r>
            <a:br>
              <a:rPr lang="pt-BR"/>
            </a:br>
            <a:br>
              <a:rPr lang="pt-BR"/>
            </a:br>
            <a:r>
              <a:rPr lang="pt-BR"/>
              <a:t>- Encontrado em 1817 pelo sueco Johan August </a:t>
            </a:r>
            <a:r>
              <a:rPr lang="pt-BR" err="1"/>
              <a:t>Arfwedson</a:t>
            </a:r>
            <a:br>
              <a:rPr lang="pt-BR"/>
            </a:br>
            <a:br>
              <a:rPr lang="pt-BR"/>
            </a:br>
            <a:r>
              <a:rPr lang="pt-BR"/>
              <a:t>Ponto de Fusão:  180,54 °C                         Ponto de ebulição: 1342°C</a:t>
            </a:r>
            <a:br>
              <a:rPr lang="pt-BR"/>
            </a:br>
            <a:r>
              <a:rPr lang="pt-BR"/>
              <a:t>   </a:t>
            </a:r>
            <a:br>
              <a:rPr lang="pt-BR"/>
            </a:br>
            <a:br>
              <a:rPr lang="pt-BR"/>
            </a:br>
            <a:r>
              <a:rPr lang="pt-BR"/>
              <a:t>                                     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133FCEE-5E9F-FDF8-0B52-C42D9F87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968" y="5416550"/>
            <a:ext cx="2381250" cy="1323975"/>
          </a:xfrm>
          <a:prstGeom prst="rect">
            <a:avLst/>
          </a:prstGeom>
        </p:spPr>
      </p:pic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2F06B3DE-44D9-631B-C783-C53DB07DA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7DCD0EF-03D2-1DB3-6351-04DCB7EED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7102" y="1003663"/>
            <a:ext cx="2959924" cy="232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39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AB5DD-BE7F-8361-B643-04C2CE538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163782"/>
            <a:ext cx="10728322" cy="5225142"/>
          </a:xfrm>
        </p:spPr>
        <p:txBody>
          <a:bodyPr/>
          <a:lstStyle/>
          <a:p>
            <a:br>
              <a:rPr lang="pt-BR" sz="4000"/>
            </a:br>
            <a:br>
              <a:rPr lang="pt-BR" sz="4000"/>
            </a:br>
            <a:r>
              <a:rPr lang="pt-BR"/>
              <a:t>       </a:t>
            </a:r>
            <a:r>
              <a:rPr lang="pt-BR" sz="4000"/>
              <a:t>Medicamento </a:t>
            </a:r>
            <a:r>
              <a:rPr lang="pt-BR"/>
              <a:t>                                        </a:t>
            </a:r>
            <a:r>
              <a:rPr lang="pt-BR" sz="4000"/>
              <a:t>Bateria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C22CF8B-0A78-980B-0C03-567496456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392" y="2844731"/>
            <a:ext cx="2143125" cy="214312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FEA995D2-2ED6-D7C0-C8E4-9B3DCD2C7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034" y="3099525"/>
            <a:ext cx="2918979" cy="188833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77C29673-5F75-252E-E3F9-5FE3382FDE09}"/>
              </a:ext>
            </a:extLst>
          </p:cNvPr>
          <p:cNvSpPr txBox="1"/>
          <p:nvPr/>
        </p:nvSpPr>
        <p:spPr>
          <a:xfrm>
            <a:off x="878774" y="486888"/>
            <a:ext cx="1058091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000">
                <a:latin typeface="+mj-lt"/>
              </a:rPr>
              <a:t>Para que serve o Lítio?</a:t>
            </a:r>
          </a:p>
        </p:txBody>
      </p:sp>
    </p:spTree>
    <p:extLst>
      <p:ext uri="{BB962C8B-B14F-4D97-AF65-F5344CB8AC3E}">
        <p14:creationId xmlns:p14="http://schemas.microsoft.com/office/powerpoint/2010/main" val="2586914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D8568-AAE9-16B5-B40A-E51498E4C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5000">
                <a:latin typeface="Bahnschrift SemiBold" panose="020B0502040204020203" pitchFamily="34" charset="0"/>
              </a:rPr>
              <a:t>Lithium (Nirvana)</a:t>
            </a:r>
          </a:p>
        </p:txBody>
      </p:sp>
      <p:pic>
        <p:nvPicPr>
          <p:cNvPr id="5" name="Mídia Online 4" title="Nirvana - Lithium (Official Music Video)">
            <a:hlinkClick r:id="" action="ppaction://media"/>
            <a:extLst>
              <a:ext uri="{FF2B5EF4-FFF2-40B4-BE49-F238E27FC236}">
                <a16:creationId xmlns:a16="http://schemas.microsoft.com/office/drawing/2014/main" id="{9CBCFEBD-52E5-55E6-392F-6DE9E9E1539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228975" y="2541588"/>
            <a:ext cx="5711825" cy="322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61800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BCCBF-CFC7-96DC-9063-9C3932C1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238800"/>
          </a:xfrm>
        </p:spPr>
        <p:txBody>
          <a:bodyPr>
            <a:normAutofit fontScale="90000"/>
          </a:bodyPr>
          <a:lstStyle/>
          <a:p>
            <a:r>
              <a:rPr lang="pt-BR" sz="4400">
                <a:latin typeface="Bahnschrift SemiBold" panose="020B0502040204020203" pitchFamily="34" charset="0"/>
              </a:rPr>
              <a:t>Sódio, o que é?</a:t>
            </a:r>
            <a:br>
              <a:rPr lang="pt-BR">
                <a:latin typeface="Bahnschrift SemiBold" panose="020B0502040204020203" pitchFamily="34" charset="0"/>
              </a:rPr>
            </a:br>
            <a:br>
              <a:rPr lang="pt-BR"/>
            </a:br>
            <a:r>
              <a:rPr lang="pt-BR"/>
              <a:t>- 11º elemento químico da tabela </a:t>
            </a:r>
            <a:br>
              <a:rPr lang="pt-BR"/>
            </a:br>
            <a:r>
              <a:rPr lang="pt-BR"/>
              <a:t>periódica (Na) com número atômico 11</a:t>
            </a:r>
            <a:br>
              <a:rPr lang="pt-BR"/>
            </a:br>
            <a:br>
              <a:rPr lang="pt-BR"/>
            </a:br>
            <a:r>
              <a:rPr lang="pt-BR"/>
              <a:t>- Raio atômico: 227pm</a:t>
            </a:r>
            <a:br>
              <a:rPr lang="pt-BR"/>
            </a:br>
            <a:br>
              <a:rPr lang="pt-BR"/>
            </a:br>
            <a:r>
              <a:rPr lang="pt-BR"/>
              <a:t>- Encontrado em 1807 por Humphry Davy</a:t>
            </a:r>
            <a:br>
              <a:rPr lang="pt-BR"/>
            </a:br>
            <a:br>
              <a:rPr lang="pt-BR"/>
            </a:br>
            <a:r>
              <a:rPr lang="pt-BR"/>
              <a:t>Ponto de Fusão:  97,79 °C                        Ponto de ebulição: 882,1°C</a:t>
            </a:r>
            <a:br>
              <a:rPr lang="pt-BR"/>
            </a:br>
            <a:r>
              <a:rPr lang="pt-BR"/>
              <a:t> </a:t>
            </a:r>
            <a:br>
              <a:rPr lang="pt-BR"/>
            </a:br>
            <a:br>
              <a:rPr lang="pt-BR"/>
            </a:br>
            <a:r>
              <a:rPr lang="pt-BR"/>
              <a:t>                                     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E4810CD-A6BD-F6B7-57CE-65BD578E2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388" y="619200"/>
            <a:ext cx="3359912" cy="28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98460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BCCBF-CFC7-96DC-9063-9C3932C1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238800"/>
          </a:xfrm>
        </p:spPr>
        <p:txBody>
          <a:bodyPr>
            <a:normAutofit fontScale="90000"/>
          </a:bodyPr>
          <a:lstStyle/>
          <a:p>
            <a:r>
              <a:rPr lang="pt-BR" sz="4400">
                <a:latin typeface="Bahnschrift SemiBold" panose="020B0502040204020203" pitchFamily="34" charset="0"/>
              </a:rPr>
              <a:t>Potássio, o que é?</a:t>
            </a:r>
            <a:br>
              <a:rPr lang="pt-BR">
                <a:latin typeface="Bahnschrift SemiBold" panose="020B0502040204020203" pitchFamily="34" charset="0"/>
              </a:rPr>
            </a:br>
            <a:br>
              <a:rPr lang="pt-BR"/>
            </a:br>
            <a:r>
              <a:rPr lang="pt-BR"/>
              <a:t>- 19º elemento químico da tabela </a:t>
            </a:r>
            <a:br>
              <a:rPr lang="pt-BR"/>
            </a:br>
            <a:r>
              <a:rPr lang="pt-BR"/>
              <a:t>periódica (K) com número atômico 19</a:t>
            </a:r>
            <a:br>
              <a:rPr lang="pt-BR"/>
            </a:br>
            <a:br>
              <a:rPr lang="pt-BR"/>
            </a:br>
            <a:r>
              <a:rPr lang="pt-BR"/>
              <a:t>- Raio atômico: 243pm</a:t>
            </a:r>
            <a:br>
              <a:rPr lang="pt-BR"/>
            </a:br>
            <a:br>
              <a:rPr lang="pt-BR"/>
            </a:br>
            <a:r>
              <a:rPr lang="pt-BR"/>
              <a:t>- Encontrado em 1807 por Humphry Davy</a:t>
            </a:r>
            <a:br>
              <a:rPr lang="pt-BR"/>
            </a:br>
            <a:br>
              <a:rPr lang="pt-BR"/>
            </a:br>
            <a:r>
              <a:rPr lang="pt-BR"/>
              <a:t>Ponto de Fusão:  63,5 °C                                Ponto de ebulição: 758°C</a:t>
            </a:r>
            <a:br>
              <a:rPr lang="pt-BR"/>
            </a:br>
            <a:r>
              <a:rPr lang="pt-BR"/>
              <a:t> </a:t>
            </a:r>
            <a:br>
              <a:rPr lang="pt-BR"/>
            </a:br>
            <a:br>
              <a:rPr lang="pt-BR"/>
            </a:br>
            <a:r>
              <a:rPr lang="pt-BR"/>
              <a:t>                                     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9435DD-B281-667C-A07C-0EBAF4AA8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563" y="1116132"/>
            <a:ext cx="3325461" cy="2622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5858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9646535-AEF6-4883-A4F9-EEC1F8B43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35C5297-7623-44A6-B13A-4424C8257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6E46BD-1D93-4B75-A1AD-F8DCF32C3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5B33B7-F983-1E62-232C-8D97ADF63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0" y="728664"/>
            <a:ext cx="5015638" cy="696375"/>
          </a:xfrm>
        </p:spPr>
        <p:txBody>
          <a:bodyPr vert="horz" wrap="square" lIns="0" tIns="0" rIns="0" bIns="0" rtlCol="0" anchor="b" anchorCtr="0">
            <a:noAutofit/>
          </a:bodyPr>
          <a:lstStyle/>
          <a:p>
            <a:pPr algn="ctr"/>
            <a:r>
              <a:rPr lang="en-US" sz="7000" spc="-100"/>
              <a:t>Potássio</a:t>
            </a:r>
          </a:p>
        </p:txBody>
      </p:sp>
      <p:pic>
        <p:nvPicPr>
          <p:cNvPr id="12" name="Espaço Reservado para Conteúdo 11">
            <a:extLst>
              <a:ext uri="{FF2B5EF4-FFF2-40B4-BE49-F238E27FC236}">
                <a16:creationId xmlns:a16="http://schemas.microsoft.com/office/drawing/2014/main" id="{E3490AEF-6DE2-8E7D-ACC2-2FD584B42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167" r="8723" b="-2"/>
          <a:stretch/>
        </p:blipFill>
        <p:spPr>
          <a:xfrm>
            <a:off x="647479" y="585438"/>
            <a:ext cx="5437859" cy="5358727"/>
          </a:xfrm>
          <a:custGeom>
            <a:avLst/>
            <a:gdLst/>
            <a:ahLst/>
            <a:cxnLst/>
            <a:rect l="l" t="t" r="r" b="b"/>
            <a:pathLst>
              <a:path w="5437859" h="5358727">
                <a:moveTo>
                  <a:pt x="2442245" y="12"/>
                </a:moveTo>
                <a:cubicBezTo>
                  <a:pt x="2708249" y="-1139"/>
                  <a:pt x="3417096" y="86121"/>
                  <a:pt x="3772502" y="222641"/>
                </a:cubicBezTo>
                <a:cubicBezTo>
                  <a:pt x="4178135" y="378663"/>
                  <a:pt x="4516888" y="502516"/>
                  <a:pt x="4794198" y="943240"/>
                </a:cubicBezTo>
                <a:cubicBezTo>
                  <a:pt x="5070964" y="1383427"/>
                  <a:pt x="5480948" y="2332430"/>
                  <a:pt x="5434186" y="2864301"/>
                </a:cubicBezTo>
                <a:cubicBezTo>
                  <a:pt x="5387424" y="3395099"/>
                  <a:pt x="5199832" y="3941446"/>
                  <a:pt x="4762661" y="4378953"/>
                </a:cubicBezTo>
                <a:cubicBezTo>
                  <a:pt x="4309722" y="4878654"/>
                  <a:pt x="3935081" y="5128505"/>
                  <a:pt x="3497910" y="5222333"/>
                </a:cubicBezTo>
                <a:cubicBezTo>
                  <a:pt x="3184713" y="5265762"/>
                  <a:pt x="2870973" y="5385861"/>
                  <a:pt x="2557776" y="5353156"/>
                </a:cubicBezTo>
                <a:cubicBezTo>
                  <a:pt x="2244579" y="5320450"/>
                  <a:pt x="1751402" y="5242707"/>
                  <a:pt x="1374043" y="5019128"/>
                </a:cubicBezTo>
                <a:cubicBezTo>
                  <a:pt x="1108696" y="4831472"/>
                  <a:pt x="796586" y="4519963"/>
                  <a:pt x="483933" y="4019189"/>
                </a:cubicBezTo>
                <a:cubicBezTo>
                  <a:pt x="171824" y="3582755"/>
                  <a:pt x="0" y="3082518"/>
                  <a:pt x="0" y="2536171"/>
                </a:cubicBezTo>
                <a:cubicBezTo>
                  <a:pt x="0" y="2411246"/>
                  <a:pt x="296885" y="1177542"/>
                  <a:pt x="749280" y="771132"/>
                </a:cubicBezTo>
                <a:cubicBezTo>
                  <a:pt x="1202764" y="365259"/>
                  <a:pt x="1858520" y="99860"/>
                  <a:pt x="2357678" y="6032"/>
                </a:cubicBezTo>
                <a:cubicBezTo>
                  <a:pt x="2375281" y="2145"/>
                  <a:pt x="2404244" y="176"/>
                  <a:pt x="2442245" y="12"/>
                </a:cubicBezTo>
                <a:close/>
              </a:path>
            </a:pathLst>
          </a:cu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4FF64E8-471F-4D97-EFCC-CEC040B08F14}"/>
              </a:ext>
            </a:extLst>
          </p:cNvPr>
          <p:cNvSpPr txBox="1"/>
          <p:nvPr/>
        </p:nvSpPr>
        <p:spPr>
          <a:xfrm>
            <a:off x="8031087" y="2680025"/>
            <a:ext cx="43582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>
                <a:latin typeface="Bahnschrift SemiBold" panose="020B0502040204020203" pitchFamily="34" charset="0"/>
              </a:rPr>
              <a:t>NPK</a:t>
            </a:r>
          </a:p>
        </p:txBody>
      </p:sp>
    </p:spTree>
    <p:extLst>
      <p:ext uri="{BB962C8B-B14F-4D97-AF65-F5344CB8AC3E}">
        <p14:creationId xmlns:p14="http://schemas.microsoft.com/office/powerpoint/2010/main" val="527117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BCCBF-CFC7-96DC-9063-9C3932C1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238800"/>
          </a:xfrm>
        </p:spPr>
        <p:txBody>
          <a:bodyPr>
            <a:normAutofit fontScale="90000"/>
          </a:bodyPr>
          <a:lstStyle/>
          <a:p>
            <a:r>
              <a:rPr lang="pt-BR" sz="4400">
                <a:latin typeface="Bahnschrift SemiBold" panose="020B0502040204020203" pitchFamily="34" charset="0"/>
              </a:rPr>
              <a:t>Rubídio, o que é?</a:t>
            </a:r>
            <a:br>
              <a:rPr lang="pt-BR">
                <a:latin typeface="Bahnschrift SemiBold" panose="020B0502040204020203" pitchFamily="34" charset="0"/>
              </a:rPr>
            </a:br>
            <a:br>
              <a:rPr lang="pt-BR"/>
            </a:br>
            <a:r>
              <a:rPr lang="pt-BR"/>
              <a:t>- 37º elemento químico da tabela </a:t>
            </a:r>
            <a:br>
              <a:rPr lang="pt-BR"/>
            </a:br>
            <a:r>
              <a:rPr lang="pt-BR"/>
              <a:t>periódica (Rb) com número atômico 37</a:t>
            </a:r>
            <a:br>
              <a:rPr lang="pt-BR"/>
            </a:br>
            <a:br>
              <a:rPr lang="pt-BR"/>
            </a:br>
            <a:r>
              <a:rPr lang="pt-BR"/>
              <a:t>- Raio atômico: 248pm</a:t>
            </a:r>
            <a:br>
              <a:rPr lang="pt-BR"/>
            </a:br>
            <a:br>
              <a:rPr lang="pt-BR"/>
            </a:br>
            <a:r>
              <a:rPr lang="pt-BR"/>
              <a:t>- Encontrado em 1861 Robert Bunsen  e  Gustav Kirchhoff</a:t>
            </a:r>
            <a:br>
              <a:rPr lang="pt-BR"/>
            </a:br>
            <a:br>
              <a:rPr lang="pt-BR"/>
            </a:br>
            <a:r>
              <a:rPr lang="pt-BR"/>
              <a:t>Ponto de Fusão:  39,48 °C                           Ponto de ebulição: 688°C</a:t>
            </a:r>
            <a:br>
              <a:rPr lang="pt-BR"/>
            </a:br>
            <a:r>
              <a:rPr lang="pt-BR"/>
              <a:t> </a:t>
            </a:r>
            <a:br>
              <a:rPr lang="pt-BR"/>
            </a:br>
            <a:br>
              <a:rPr lang="pt-BR"/>
            </a:br>
            <a:r>
              <a:rPr lang="pt-BR"/>
              <a:t>                                     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84E68D-629D-BA9D-C02C-7EE591017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866" y="1076400"/>
            <a:ext cx="3090134" cy="216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09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BCCBF-CFC7-96DC-9063-9C3932C1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238800"/>
          </a:xfrm>
        </p:spPr>
        <p:txBody>
          <a:bodyPr>
            <a:normAutofit fontScale="90000"/>
          </a:bodyPr>
          <a:lstStyle/>
          <a:p>
            <a:r>
              <a:rPr lang="pt-BR" sz="4400">
                <a:latin typeface="Bahnschrift SemiBold" panose="020B0502040204020203" pitchFamily="34" charset="0"/>
              </a:rPr>
              <a:t>Césio, o que é?</a:t>
            </a:r>
            <a:br>
              <a:rPr lang="pt-BR">
                <a:latin typeface="Bahnschrift SemiBold" panose="020B0502040204020203" pitchFamily="34" charset="0"/>
              </a:rPr>
            </a:br>
            <a:br>
              <a:rPr lang="pt-BR"/>
            </a:br>
            <a:r>
              <a:rPr lang="pt-BR"/>
              <a:t>- 55º elemento químico da tabela </a:t>
            </a:r>
            <a:br>
              <a:rPr lang="pt-BR"/>
            </a:br>
            <a:r>
              <a:rPr lang="pt-BR"/>
              <a:t>periódica (Cs) com número atômico 55</a:t>
            </a:r>
            <a:br>
              <a:rPr lang="pt-BR"/>
            </a:br>
            <a:br>
              <a:rPr lang="pt-BR"/>
            </a:br>
            <a:r>
              <a:rPr lang="pt-BR"/>
              <a:t>- Raio atômico: 298pm</a:t>
            </a:r>
            <a:br>
              <a:rPr lang="pt-BR"/>
            </a:br>
            <a:br>
              <a:rPr lang="pt-BR"/>
            </a:br>
            <a:r>
              <a:rPr lang="pt-BR"/>
              <a:t>- Encontrado em 1860 Robert Bunsen  e  Gustav Kirchhoff</a:t>
            </a:r>
            <a:br>
              <a:rPr lang="pt-BR"/>
            </a:br>
            <a:br>
              <a:rPr lang="pt-BR"/>
            </a:br>
            <a:r>
              <a:rPr lang="pt-BR"/>
              <a:t>Ponto de Fusão:  28,5°C                        Ponto de ebulição: 671°C</a:t>
            </a:r>
            <a:br>
              <a:rPr lang="pt-BR"/>
            </a:br>
            <a:r>
              <a:rPr lang="pt-BR"/>
              <a:t> </a:t>
            </a:r>
            <a:br>
              <a:rPr lang="pt-BR"/>
            </a:br>
            <a:br>
              <a:rPr lang="pt-BR"/>
            </a:br>
            <a:r>
              <a:rPr lang="pt-BR"/>
              <a:t>                                     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1D07623-1C1E-70AE-F76F-134DF927E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9550" y="757237"/>
            <a:ext cx="3067050" cy="26717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41B6F5D-58A7-217A-34E6-5691F4128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5" y="5429250"/>
            <a:ext cx="1985962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54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38E27F7-3F29-47F0-B30F-585059182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16CD8D-2899-43D9-995B-DD1278D6B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7F38A32B-CAD5-4D19-8E90-F63EB6902E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16200000">
            <a:off x="-342615" y="342615"/>
            <a:ext cx="6858000" cy="6172768"/>
          </a:xfrm>
          <a:custGeom>
            <a:avLst/>
            <a:gdLst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4440498 w 6858000"/>
              <a:gd name="connsiteY4" fmla="*/ 5734742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0" fmla="*/ 6858000 w 6858000"/>
              <a:gd name="connsiteY0" fmla="*/ 0 h 5878098"/>
              <a:gd name="connsiteX1" fmla="*/ 6858000 w 6858000"/>
              <a:gd name="connsiteY1" fmla="*/ 5780582 h 5878098"/>
              <a:gd name="connsiteX2" fmla="*/ 6766523 w 6858000"/>
              <a:gd name="connsiteY2" fmla="*/ 5777266 h 5878098"/>
              <a:gd name="connsiteX3" fmla="*/ 5437222 w 6858000"/>
              <a:gd name="connsiteY3" fmla="*/ 5734742 h 5878098"/>
              <a:gd name="connsiteX4" fmla="*/ 4440498 w 6858000"/>
              <a:gd name="connsiteY4" fmla="*/ 5734742 h 5878098"/>
              <a:gd name="connsiteX5" fmla="*/ 582209 w 6858000"/>
              <a:gd name="connsiteY5" fmla="*/ 4121983 h 5878098"/>
              <a:gd name="connsiteX6" fmla="*/ 73548 w 6858000"/>
              <a:gd name="connsiteY6" fmla="*/ 3184291 h 5878098"/>
              <a:gd name="connsiteX7" fmla="*/ 0 w 6858000"/>
              <a:gd name="connsiteY7" fmla="*/ 2994994 h 5878098"/>
              <a:gd name="connsiteX8" fmla="*/ 0 w 6858000"/>
              <a:gd name="connsiteY8" fmla="*/ 0 h 5878098"/>
              <a:gd name="connsiteX9" fmla="*/ 6858000 w 6858000"/>
              <a:gd name="connsiteY9" fmla="*/ 0 h 5878098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9" fmla="*/ 6858000 w 6858000"/>
              <a:gd name="connsiteY9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9" fmla="*/ 6858000 w 6858000"/>
              <a:gd name="connsiteY9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73548 w 6858000"/>
              <a:gd name="connsiteY6" fmla="*/ 3184291 h 5780582"/>
              <a:gd name="connsiteX7" fmla="*/ 0 w 6858000"/>
              <a:gd name="connsiteY7" fmla="*/ 2994994 h 5780582"/>
              <a:gd name="connsiteX8" fmla="*/ 0 w 6858000"/>
              <a:gd name="connsiteY8" fmla="*/ 0 h 5780582"/>
              <a:gd name="connsiteX9" fmla="*/ 6858000 w 6858000"/>
              <a:gd name="connsiteY9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0 w 6858000"/>
              <a:gd name="connsiteY6" fmla="*/ 2994994 h 5780582"/>
              <a:gd name="connsiteX7" fmla="*/ 0 w 6858000"/>
              <a:gd name="connsiteY7" fmla="*/ 0 h 5780582"/>
              <a:gd name="connsiteX8" fmla="*/ 6858000 w 6858000"/>
              <a:gd name="connsiteY8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582209 w 6858000"/>
              <a:gd name="connsiteY5" fmla="*/ 4121983 h 5780582"/>
              <a:gd name="connsiteX6" fmla="*/ 0 w 6858000"/>
              <a:gd name="connsiteY6" fmla="*/ 2994994 h 5780582"/>
              <a:gd name="connsiteX7" fmla="*/ 0 w 6858000"/>
              <a:gd name="connsiteY7" fmla="*/ 0 h 5780582"/>
              <a:gd name="connsiteX8" fmla="*/ 6858000 w 6858000"/>
              <a:gd name="connsiteY8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5437222 w 6858000"/>
              <a:gd name="connsiteY3" fmla="*/ 5734742 h 5780582"/>
              <a:gd name="connsiteX4" fmla="*/ 3010841 w 6858000"/>
              <a:gd name="connsiteY4" fmla="*/ 5469518 h 5780582"/>
              <a:gd name="connsiteX5" fmla="*/ 959581 w 6858000"/>
              <a:gd name="connsiteY5" fmla="*/ 4373609 h 5780582"/>
              <a:gd name="connsiteX6" fmla="*/ 0 w 6858000"/>
              <a:gd name="connsiteY6" fmla="*/ 2994994 h 5780582"/>
              <a:gd name="connsiteX7" fmla="*/ 0 w 6858000"/>
              <a:gd name="connsiteY7" fmla="*/ 0 h 5780582"/>
              <a:gd name="connsiteX8" fmla="*/ 6858000 w 6858000"/>
              <a:gd name="connsiteY8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6766523 w 6858000"/>
              <a:gd name="connsiteY2" fmla="*/ 5777266 h 5780582"/>
              <a:gd name="connsiteX3" fmla="*/ 3010841 w 6858000"/>
              <a:gd name="connsiteY3" fmla="*/ 5469518 h 5780582"/>
              <a:gd name="connsiteX4" fmla="*/ 959581 w 6858000"/>
              <a:gd name="connsiteY4" fmla="*/ 4373609 h 5780582"/>
              <a:gd name="connsiteX5" fmla="*/ 0 w 6858000"/>
              <a:gd name="connsiteY5" fmla="*/ 2994994 h 5780582"/>
              <a:gd name="connsiteX6" fmla="*/ 0 w 6858000"/>
              <a:gd name="connsiteY6" fmla="*/ 0 h 5780582"/>
              <a:gd name="connsiteX7" fmla="*/ 6858000 w 6858000"/>
              <a:gd name="connsiteY7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010841 w 6858000"/>
              <a:gd name="connsiteY2" fmla="*/ 5469518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010841 w 6858000"/>
              <a:gd name="connsiteY2" fmla="*/ 5469518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010841 w 6858000"/>
              <a:gd name="connsiteY2" fmla="*/ 5469518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0582"/>
              <a:gd name="connsiteX1" fmla="*/ 6858000 w 6858000"/>
              <a:gd name="connsiteY1" fmla="*/ 5780582 h 5780582"/>
              <a:gd name="connsiteX2" fmla="*/ 3264841 w 6858000"/>
              <a:gd name="connsiteY2" fmla="*/ 5442316 h 5780582"/>
              <a:gd name="connsiteX3" fmla="*/ 959581 w 6858000"/>
              <a:gd name="connsiteY3" fmla="*/ 4373609 h 5780582"/>
              <a:gd name="connsiteX4" fmla="*/ 0 w 6858000"/>
              <a:gd name="connsiteY4" fmla="*/ 2994994 h 5780582"/>
              <a:gd name="connsiteX5" fmla="*/ 0 w 6858000"/>
              <a:gd name="connsiteY5" fmla="*/ 0 h 5780582"/>
              <a:gd name="connsiteX6" fmla="*/ 6858000 w 6858000"/>
              <a:gd name="connsiteY6" fmla="*/ 0 h 5780582"/>
              <a:gd name="connsiteX0" fmla="*/ 6858000 w 6858000"/>
              <a:gd name="connsiteY0" fmla="*/ 0 h 5784516"/>
              <a:gd name="connsiteX1" fmla="*/ 6858000 w 6858000"/>
              <a:gd name="connsiteY1" fmla="*/ 5780582 h 5784516"/>
              <a:gd name="connsiteX2" fmla="*/ 3264841 w 6858000"/>
              <a:gd name="connsiteY2" fmla="*/ 5442316 h 5784516"/>
              <a:gd name="connsiteX3" fmla="*/ 959581 w 6858000"/>
              <a:gd name="connsiteY3" fmla="*/ 4373609 h 5784516"/>
              <a:gd name="connsiteX4" fmla="*/ 0 w 6858000"/>
              <a:gd name="connsiteY4" fmla="*/ 2994994 h 5784516"/>
              <a:gd name="connsiteX5" fmla="*/ 0 w 6858000"/>
              <a:gd name="connsiteY5" fmla="*/ 0 h 5784516"/>
              <a:gd name="connsiteX6" fmla="*/ 6858000 w 6858000"/>
              <a:gd name="connsiteY6" fmla="*/ 0 h 5784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8000" h="5784516">
                <a:moveTo>
                  <a:pt x="6858000" y="0"/>
                </a:moveTo>
                <a:lnTo>
                  <a:pt x="6858000" y="5780582"/>
                </a:lnTo>
                <a:cubicBezTo>
                  <a:pt x="4704756" y="5812908"/>
                  <a:pt x="4198884" y="5641214"/>
                  <a:pt x="3264841" y="5442316"/>
                </a:cubicBezTo>
                <a:cubicBezTo>
                  <a:pt x="2330798" y="5243418"/>
                  <a:pt x="1503721" y="4781496"/>
                  <a:pt x="959581" y="4373609"/>
                </a:cubicBezTo>
                <a:cubicBezTo>
                  <a:pt x="415441" y="3965722"/>
                  <a:pt x="198635" y="3573180"/>
                  <a:pt x="0" y="2994994"/>
                </a:cubicBez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1BAB5DD-BE7F-8361-B643-04C2CE538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5" y="1511049"/>
            <a:ext cx="6439118" cy="979486"/>
          </a:xfrm>
        </p:spPr>
        <p:txBody>
          <a:bodyPr vert="horz" wrap="square" lIns="0" tIns="0" rIns="0" bIns="0" rtlCol="0" anchor="t" anchorCtr="0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2800"/>
              <a:t>- Tratamento  do câncer  por  raio gama</a:t>
            </a:r>
            <a:br>
              <a:rPr lang="en-US" sz="2800"/>
            </a:br>
            <a:br>
              <a:rPr lang="en-US" sz="2800"/>
            </a:br>
            <a:br>
              <a:rPr lang="en-US" sz="2800"/>
            </a:br>
            <a:br>
              <a:rPr lang="en-US" sz="2800"/>
            </a:br>
            <a:r>
              <a:rPr lang="en-US" sz="2800"/>
              <a:t>- Elimina os microrganismos  dos alimentos</a:t>
            </a:r>
            <a:br>
              <a:rPr lang="en-US" sz="6000"/>
            </a:br>
            <a:br>
              <a:rPr lang="en-US" sz="6000"/>
            </a:br>
            <a:br>
              <a:rPr lang="en-US" sz="1500"/>
            </a:br>
            <a:r>
              <a:rPr lang="en-US" sz="1500"/>
              <a:t>                                       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DD711B0-63BA-F060-E863-3CEBB9038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491" y="1255952"/>
            <a:ext cx="2331048" cy="1691683"/>
          </a:xfrm>
          <a:custGeom>
            <a:avLst/>
            <a:gdLst/>
            <a:ahLst/>
            <a:cxnLst/>
            <a:rect l="l" t="t" r="r" b="b"/>
            <a:pathLst>
              <a:path w="5015639" h="3501162">
                <a:moveTo>
                  <a:pt x="0" y="0"/>
                </a:moveTo>
                <a:lnTo>
                  <a:pt x="5015639" y="0"/>
                </a:lnTo>
                <a:lnTo>
                  <a:pt x="5015639" y="3501162"/>
                </a:lnTo>
                <a:lnTo>
                  <a:pt x="0" y="3501162"/>
                </a:lnTo>
                <a:close/>
              </a:path>
            </a:pathLst>
          </a:cu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27DF0584-F8AA-8E81-BE9B-48F91B49C7A4}"/>
              </a:ext>
            </a:extLst>
          </p:cNvPr>
          <p:cNvSpPr txBox="1"/>
          <p:nvPr/>
        </p:nvSpPr>
        <p:spPr>
          <a:xfrm>
            <a:off x="353568" y="369454"/>
            <a:ext cx="574243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500">
                <a:latin typeface="Bahnschrift SemiBold" panose="020B0502040204020203" pitchFamily="34" charset="0"/>
              </a:rPr>
              <a:t>Para que serve o Césio?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9633CDD-7ACD-8F97-2D71-3144D32FDB1D}"/>
              </a:ext>
            </a:extLst>
          </p:cNvPr>
          <p:cNvSpPr txBox="1"/>
          <p:nvPr/>
        </p:nvSpPr>
        <p:spPr>
          <a:xfrm>
            <a:off x="7566503" y="537136"/>
            <a:ext cx="4625497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500">
                <a:latin typeface="Bahnschrift SemiBold" panose="020B0502040204020203" pitchFamily="34" charset="0"/>
              </a:rPr>
              <a:t>Relógio atômico</a:t>
            </a:r>
          </a:p>
        </p:txBody>
      </p:sp>
      <p:pic>
        <p:nvPicPr>
          <p:cNvPr id="3" name="Mídia Online 2" title="Como Funciona um Relógio Atômico">
            <a:hlinkClick r:id="" action="ppaction://media"/>
            <a:extLst>
              <a:ext uri="{FF2B5EF4-FFF2-40B4-BE49-F238E27FC236}">
                <a16:creationId xmlns:a16="http://schemas.microsoft.com/office/drawing/2014/main" id="{23A9AD4B-6463-67F1-9457-9FDC22595DD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6852062" y="3793477"/>
            <a:ext cx="4334190" cy="252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7340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884A9-F743-6FE2-5BDF-6F17A03A8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7000">
                <a:latin typeface="Bahnschrift SemiBold" panose="020B0502040204020203" pitchFamily="34" charset="0"/>
              </a:rPr>
              <a:t>Césio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5278A9-8B8E-CEED-8E78-0CD8BC18D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A0B9E8-A688-A716-6ADA-E80D21B4A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67" y="2074112"/>
            <a:ext cx="3328987" cy="4162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30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0BCCBF-CFC7-96DC-9063-9C3932C16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6238800"/>
          </a:xfrm>
        </p:spPr>
        <p:txBody>
          <a:bodyPr>
            <a:normAutofit fontScale="90000"/>
          </a:bodyPr>
          <a:lstStyle/>
          <a:p>
            <a:r>
              <a:rPr lang="pt-BR" sz="4400">
                <a:latin typeface="Bahnschrift SemiBold" panose="020B0502040204020203" pitchFamily="34" charset="0"/>
              </a:rPr>
              <a:t>Frâncio, o que é?</a:t>
            </a:r>
            <a:br>
              <a:rPr lang="pt-BR">
                <a:latin typeface="Bahnschrift SemiBold" panose="020B0502040204020203" pitchFamily="34" charset="0"/>
              </a:rPr>
            </a:br>
            <a:br>
              <a:rPr lang="pt-BR"/>
            </a:br>
            <a:r>
              <a:rPr lang="pt-BR"/>
              <a:t>- 87º elemento químico da tabela </a:t>
            </a:r>
            <a:br>
              <a:rPr lang="pt-BR"/>
            </a:br>
            <a:r>
              <a:rPr lang="pt-BR"/>
              <a:t>periódica (Fr) com número atômico 87</a:t>
            </a:r>
            <a:br>
              <a:rPr lang="pt-BR"/>
            </a:br>
            <a:br>
              <a:rPr lang="pt-BR"/>
            </a:br>
            <a:r>
              <a:rPr lang="pt-BR"/>
              <a:t>- Raio atômico: 348pm</a:t>
            </a:r>
            <a:br>
              <a:rPr lang="pt-BR"/>
            </a:br>
            <a:br>
              <a:rPr lang="pt-BR"/>
            </a:br>
            <a:r>
              <a:rPr lang="pt-BR"/>
              <a:t>- Encontrado em 1939 Marguerite Perey</a:t>
            </a:r>
            <a:br>
              <a:rPr lang="pt-BR"/>
            </a:br>
            <a:br>
              <a:rPr lang="pt-BR"/>
            </a:br>
            <a:r>
              <a:rPr lang="pt-BR"/>
              <a:t>Ponto de Fusão:  26,85°C                        Ponto de ebulição: 676,85°C</a:t>
            </a:r>
            <a:br>
              <a:rPr lang="pt-BR"/>
            </a:br>
            <a:r>
              <a:rPr lang="pt-BR"/>
              <a:t> </a:t>
            </a:r>
            <a:br>
              <a:rPr lang="pt-BR"/>
            </a:br>
            <a:br>
              <a:rPr lang="pt-BR"/>
            </a:br>
            <a:r>
              <a:rPr lang="pt-BR"/>
              <a:t>                                     </a:t>
            </a:r>
            <a:br>
              <a:rPr lang="pt-BR"/>
            </a:br>
            <a:br>
              <a:rPr lang="pt-BR"/>
            </a:br>
            <a:br>
              <a:rPr lang="pt-BR"/>
            </a:br>
            <a:br>
              <a:rPr lang="pt-BR"/>
            </a:br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93C7CF9-8252-5785-6654-719054AC7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9734" y="619200"/>
            <a:ext cx="3332266" cy="301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819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477A-8984-9B3F-1735-062975996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619200"/>
            <a:ext cx="10728322" cy="147732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600">
                <a:latin typeface="Bahnschrift SemiBold" panose="020B0502040204020203" pitchFamily="34" charset="0"/>
              </a:rPr>
              <a:t>Obrigado a todos pela atenção!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 sz="6700">
                <a:latin typeface="Bahnschrift SemiBold" panose="020B0502040204020203" pitchFamily="34" charset="0"/>
              </a:rPr>
              <a:t>Dúvidas?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463E-2DD4-8AAE-1939-46300253EAB9}"/>
              </a:ext>
            </a:extLst>
          </p:cNvPr>
          <p:cNvSpPr>
            <a:spLocks noGrp="1"/>
          </p:cNvSpPr>
          <p:nvPr>
            <p:ph idx="1"/>
          </p:nvPr>
        </p:nvSpPr>
        <p:spPr>
          <a:xfrm flipH="1">
            <a:off x="368135" y="5391397"/>
            <a:ext cx="351865" cy="37757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21533"/>
      </p:ext>
    </p:extLst>
  </p:cSld>
  <p:clrMapOvr>
    <a:masterClrMapping/>
  </p:clrMapOvr>
</p:sld>
</file>

<file path=ppt/theme/theme1.xml><?xml version="1.0" encoding="utf-8"?>
<a:theme xmlns:a="http://schemas.openxmlformats.org/drawingml/2006/main" name="BlobVTI">
  <a:themeElements>
    <a:clrScheme name="AnalogousFromRegularSeed_2SEEDS">
      <a:dk1>
        <a:srgbClr val="000000"/>
      </a:dk1>
      <a:lt1>
        <a:srgbClr val="FFFFFF"/>
      </a:lt1>
      <a:dk2>
        <a:srgbClr val="2C301B"/>
      </a:dk2>
      <a:lt2>
        <a:srgbClr val="F1F0F3"/>
      </a:lt2>
      <a:accent1>
        <a:srgbClr val="8FAC16"/>
      </a:accent1>
      <a:accent2>
        <a:srgbClr val="BE9D25"/>
      </a:accent2>
      <a:accent3>
        <a:srgbClr val="5BB323"/>
      </a:accent3>
      <a:accent4>
        <a:srgbClr val="1BA2D1"/>
      </a:accent4>
      <a:accent5>
        <a:srgbClr val="2D68E3"/>
      </a:accent5>
      <a:accent6>
        <a:srgbClr val="5143D9"/>
      </a:accent6>
      <a:hlink>
        <a:srgbClr val="583FBF"/>
      </a:hlink>
      <a:folHlink>
        <a:srgbClr val="7F7F7F"/>
      </a:folHlink>
    </a:clrScheme>
    <a:fontScheme name="Blob">
      <a:majorFont>
        <a:latin typeface="Sagona Book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bVTI" id="{06D3AACF-B619-4265-899F-5E2FB3A445D5}" vid="{F5918863-BA1A-4735-81A8-3E7BFBDA847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2E5C36DC49DC47B79D6C51D023A389" ma:contentTypeVersion="11" ma:contentTypeDescription="Create a new document." ma:contentTypeScope="" ma:versionID="95aad87913b10d4b6f73d13b793c9109">
  <xsd:schema xmlns:xsd="http://www.w3.org/2001/XMLSchema" xmlns:xs="http://www.w3.org/2001/XMLSchema" xmlns:p="http://schemas.microsoft.com/office/2006/metadata/properties" xmlns:ns3="208637c5-b928-4ac1-9566-a5150cdb1a83" xmlns:ns4="38f2b181-4ec1-4078-9999-c91a6c0e85ba" targetNamespace="http://schemas.microsoft.com/office/2006/metadata/properties" ma:root="true" ma:fieldsID="42da5aead39c529bfb02c7a4c2ab7206" ns3:_="" ns4:_="">
    <xsd:import namespace="208637c5-b928-4ac1-9566-a5150cdb1a83"/>
    <xsd:import namespace="38f2b181-4ec1-4078-9999-c91a6c0e85b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8637c5-b928-4ac1-9566-a5150cdb1a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f2b181-4ec1-4078-9999-c91a6c0e85ba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85ABC7-B937-43C9-A5AF-59AB8F936725}">
  <ds:schemaRefs>
    <ds:schemaRef ds:uri="208637c5-b928-4ac1-9566-a5150cdb1a83"/>
    <ds:schemaRef ds:uri="38f2b181-4ec1-4078-9999-c91a6c0e85b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3728AC4-EF3A-4CDD-9DC8-2CA5F59920CD}">
  <ds:schemaRefs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E167549B-1AFE-43B7-9B17-8D41A059026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BlobVTI</vt:lpstr>
      <vt:lpstr>Química</vt:lpstr>
      <vt:lpstr>Tabela   periódica</vt:lpstr>
      <vt:lpstr>Família 1A da tabela periódica  Características:   - Todos os elementos explodem em contato com a água      - Eles possuem  1 elétron de valência em sua distribuição eletrônica</vt:lpstr>
      <vt:lpstr>Lítio, o que é?  - Terceiro elemento químico da tabela  periódica (Li) com número atômico 3  - Raio atômico: 152pm  - Encontrado em 1817 pelo sueco Johan August Arfwedson  Ponto de Fusão:  180,54 °C                         Ponto de ebulição: 1342°C                                               </vt:lpstr>
      <vt:lpstr>         Medicamento                                         Bateria</vt:lpstr>
      <vt:lpstr>Lithium (Nirvana)</vt:lpstr>
      <vt:lpstr>Sódio, o que é?  - 11º elemento químico da tabela  periódica (Na) com número atômico 11  - Raio atômico: 227pm  - Encontrado em 1807 por Humphry Davy  Ponto de Fusão:  97,79 °C                        Ponto de ebulição: 882,1°C                                             </vt:lpstr>
      <vt:lpstr>Potássio, o que é?  - 19º elemento químico da tabela  periódica (K) com número atômico 19  - Raio atômico: 243pm  - Encontrado em 1807 por Humphry Davy  Ponto de Fusão:  63,5 °C                                Ponto de ebulição: 758°C                                             </vt:lpstr>
      <vt:lpstr>Potássio</vt:lpstr>
      <vt:lpstr>Rubídio, o que é?  - 37º elemento químico da tabela  periódica (Rb) com número atômico 37  - Raio atômico: 248pm  - Encontrado em 1861 Robert Bunsen  e  Gustav Kirchhoff  Ponto de Fusão:  39,48 °C                           Ponto de ebulição: 688°C                                             </vt:lpstr>
      <vt:lpstr>Césio, o que é?  - 55º elemento químico da tabela  periódica (Cs) com número atômico 55  - Raio atômico: 298pm  - Encontrado em 1860 Robert Bunsen  e  Gustav Kirchhoff  Ponto de Fusão:  28,5°C                        Ponto de ebulição: 671°C                                             </vt:lpstr>
      <vt:lpstr>- Tratamento  do câncer  por  raio gama    - Elimina os microrganismos  dos alimentos                                           </vt:lpstr>
      <vt:lpstr>Césio</vt:lpstr>
      <vt:lpstr>Frâncio, o que é?  - 87º elemento químico da tabela  periódica (Fr) com número atômico 87  - Raio atômico: 348pm  - Encontrado em 1939 Marguerite Perey  Ponto de Fusão:  26,85°C                        Ponto de ebulição: 676,85°C                                             </vt:lpstr>
      <vt:lpstr>Obrigado a todos pela atenção!     Dúvidas?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Química</dc:title>
  <dc:creator>VINICIUS VALERO CHABARIBERI</dc:creator>
  <cp:revision>1</cp:revision>
  <dcterms:created xsi:type="dcterms:W3CDTF">2022-05-15T22:19:02Z</dcterms:created>
  <dcterms:modified xsi:type="dcterms:W3CDTF">2022-05-17T15:18:59Z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0x010100282E5C36DC49DC47B79D6C51D023A389</vt:lpwstr>
  </property>
</Properties>
</file>