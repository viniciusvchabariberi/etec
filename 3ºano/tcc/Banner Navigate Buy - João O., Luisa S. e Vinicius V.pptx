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7" r:id="rId5"/>
  </p:sldIdLst>
  <p:sldSz cx="32399288" cy="43200638"/>
  <p:notesSz cx="6858000" cy="9144000"/>
  <p:defaultTextStyle>
    <a:defPPr>
      <a:defRPr lang="pt-BR"/>
    </a:defPPr>
    <a:lvl1pPr marL="0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1pPr>
    <a:lvl2pPr marL="1814398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2pPr>
    <a:lvl3pPr marL="3628796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3pPr>
    <a:lvl4pPr marL="5443195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4pPr>
    <a:lvl5pPr marL="7257593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5pPr>
    <a:lvl6pPr marL="9071991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6pPr>
    <a:lvl7pPr marL="10886389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7pPr>
    <a:lvl8pPr marL="12700787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8pPr>
    <a:lvl9pPr marL="14515186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06">
          <p15:clr>
            <a:srgbClr val="A4A3A4"/>
          </p15:clr>
        </p15:guide>
        <p15:guide id="2" pos="1020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0300"/>
    <a:srgbClr val="FF5757"/>
    <a:srgbClr val="FF3030"/>
    <a:srgbClr val="004AAD"/>
    <a:srgbClr val="37B6FF"/>
    <a:srgbClr val="8C52FF"/>
    <a:srgbClr val="FF65C3"/>
    <a:srgbClr val="41719C"/>
    <a:srgbClr val="000099"/>
    <a:srgbClr val="1029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959" autoAdjust="0"/>
    <p:restoredTop sz="94660"/>
  </p:normalViewPr>
  <p:slideViewPr>
    <p:cSldViewPr snapToGrid="0">
      <p:cViewPr>
        <p:scale>
          <a:sx n="33" d="100"/>
          <a:sy n="33" d="100"/>
        </p:scale>
        <p:origin x="864" y="-4435"/>
      </p:cViewPr>
      <p:guideLst>
        <p:guide orient="horz" pos="13606"/>
        <p:guide pos="102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9947" y="7070108"/>
            <a:ext cx="27539395" cy="15040222"/>
          </a:xfrm>
        </p:spPr>
        <p:txBody>
          <a:bodyPr anchor="b"/>
          <a:lstStyle>
            <a:lvl1pPr algn="ctr">
              <a:defRPr sz="2125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49911" y="22690338"/>
            <a:ext cx="24299466" cy="10430151"/>
          </a:xfrm>
        </p:spPr>
        <p:txBody>
          <a:bodyPr/>
          <a:lstStyle>
            <a:lvl1pPr marL="0" indent="0" algn="ctr">
              <a:buNone/>
              <a:defRPr sz="8504"/>
            </a:lvl1pPr>
            <a:lvl2pPr marL="1619951" indent="0" algn="ctr">
              <a:buNone/>
              <a:defRPr sz="7086"/>
            </a:lvl2pPr>
            <a:lvl3pPr marL="3239902" indent="0" algn="ctr">
              <a:buNone/>
              <a:defRPr sz="6378"/>
            </a:lvl3pPr>
            <a:lvl4pPr marL="4859853" indent="0" algn="ctr">
              <a:buNone/>
              <a:defRPr sz="5669"/>
            </a:lvl4pPr>
            <a:lvl5pPr marL="6479804" indent="0" algn="ctr">
              <a:buNone/>
              <a:defRPr sz="5669"/>
            </a:lvl5pPr>
            <a:lvl6pPr marL="8099755" indent="0" algn="ctr">
              <a:buNone/>
              <a:defRPr sz="5669"/>
            </a:lvl6pPr>
            <a:lvl7pPr marL="9719706" indent="0" algn="ctr">
              <a:buNone/>
              <a:defRPr sz="5669"/>
            </a:lvl7pPr>
            <a:lvl8pPr marL="11339657" indent="0" algn="ctr">
              <a:buNone/>
              <a:defRPr sz="5669"/>
            </a:lvl8pPr>
            <a:lvl9pPr marL="12959608" indent="0" algn="ctr">
              <a:buNone/>
              <a:defRPr sz="5669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793FE-9174-4BCA-8FC1-2C151984D1DA}" type="datetimeFigureOut">
              <a:rPr lang="pt-BR" smtClean="0"/>
              <a:t>13/11/2024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2CB0-136A-46C6-A53C-3315DE620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3974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793FE-9174-4BCA-8FC1-2C151984D1DA}" type="datetimeFigureOut">
              <a:rPr lang="pt-BR" smtClean="0"/>
              <a:t>13/11/2024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2CB0-136A-46C6-A53C-3315DE620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1757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0578" y="10770172"/>
            <a:ext cx="27944386" cy="17970262"/>
          </a:xfrm>
        </p:spPr>
        <p:txBody>
          <a:bodyPr anchor="b"/>
          <a:lstStyle>
            <a:lvl1pPr>
              <a:defRPr sz="2125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10578" y="28910440"/>
            <a:ext cx="27944386" cy="9450136"/>
          </a:xfrm>
        </p:spPr>
        <p:txBody>
          <a:bodyPr/>
          <a:lstStyle>
            <a:lvl1pPr marL="0" indent="0">
              <a:buNone/>
              <a:defRPr sz="8504">
                <a:solidFill>
                  <a:schemeClr val="tx1"/>
                </a:solidFill>
              </a:defRPr>
            </a:lvl1pPr>
            <a:lvl2pPr marL="1619951" indent="0">
              <a:buNone/>
              <a:defRPr sz="7086">
                <a:solidFill>
                  <a:schemeClr val="tx1">
                    <a:tint val="75000"/>
                  </a:schemeClr>
                </a:solidFill>
              </a:defRPr>
            </a:lvl2pPr>
            <a:lvl3pPr marL="3239902" indent="0">
              <a:buNone/>
              <a:defRPr sz="6378">
                <a:solidFill>
                  <a:schemeClr val="tx1">
                    <a:tint val="75000"/>
                  </a:schemeClr>
                </a:solidFill>
              </a:defRPr>
            </a:lvl3pPr>
            <a:lvl4pPr marL="4859853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4pPr>
            <a:lvl5pPr marL="6479804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5pPr>
            <a:lvl6pPr marL="8099755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6pPr>
            <a:lvl7pPr marL="9719706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7pPr>
            <a:lvl8pPr marL="11339657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8pPr>
            <a:lvl9pPr marL="12959608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793FE-9174-4BCA-8FC1-2C151984D1DA}" type="datetimeFigureOut">
              <a:rPr lang="pt-BR" smtClean="0"/>
              <a:t>13/11/2024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2CB0-136A-46C6-A53C-3315DE620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7183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27451" y="11500170"/>
            <a:ext cx="13769697" cy="2741040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02140" y="11500170"/>
            <a:ext cx="13769697" cy="2741040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793FE-9174-4BCA-8FC1-2C151984D1DA}" type="datetimeFigureOut">
              <a:rPr lang="pt-BR" smtClean="0"/>
              <a:t>13/11/2024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2CB0-136A-46C6-A53C-3315DE620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3512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300044"/>
            <a:ext cx="27944386" cy="8350126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675" y="10590160"/>
            <a:ext cx="13706415" cy="5190073"/>
          </a:xfrm>
        </p:spPr>
        <p:txBody>
          <a:bodyPr anchor="b"/>
          <a:lstStyle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1675" y="15780233"/>
            <a:ext cx="13706415" cy="23210346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402142" y="10590160"/>
            <a:ext cx="13773917" cy="5190073"/>
          </a:xfrm>
        </p:spPr>
        <p:txBody>
          <a:bodyPr anchor="b"/>
          <a:lstStyle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02142" y="15780233"/>
            <a:ext cx="13773917" cy="23210346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793FE-9174-4BCA-8FC1-2C151984D1DA}" type="datetimeFigureOut">
              <a:rPr lang="pt-BR" smtClean="0"/>
              <a:t>13/11/2024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2CB0-136A-46C6-A53C-3315DE620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5750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793FE-9174-4BCA-8FC1-2C151984D1DA}" type="datetimeFigureOut">
              <a:rPr lang="pt-BR" smtClean="0"/>
              <a:t>13/11/2024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2CB0-136A-46C6-A53C-3315DE620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4814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793FE-9174-4BCA-8FC1-2C151984D1DA}" type="datetimeFigureOut">
              <a:rPr lang="pt-BR" smtClean="0"/>
              <a:t>13/11/2024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2CB0-136A-46C6-A53C-3315DE620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9522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880042"/>
            <a:ext cx="10449614" cy="10080149"/>
          </a:xfrm>
        </p:spPr>
        <p:txBody>
          <a:bodyPr anchor="b"/>
          <a:lstStyle>
            <a:lvl1pPr>
              <a:defRPr sz="1133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73917" y="6220102"/>
            <a:ext cx="16402140" cy="30700453"/>
          </a:xfrm>
        </p:spPr>
        <p:txBody>
          <a:bodyPr/>
          <a:lstStyle>
            <a:lvl1pPr>
              <a:defRPr sz="11338"/>
            </a:lvl1pPr>
            <a:lvl2pPr>
              <a:defRPr sz="9921"/>
            </a:lvl2pPr>
            <a:lvl3pPr>
              <a:defRPr sz="8504"/>
            </a:lvl3pPr>
            <a:lvl4pPr>
              <a:defRPr sz="7086"/>
            </a:lvl4pPr>
            <a:lvl5pPr>
              <a:defRPr sz="7086"/>
            </a:lvl5pPr>
            <a:lvl6pPr>
              <a:defRPr sz="7086"/>
            </a:lvl6pPr>
            <a:lvl7pPr>
              <a:defRPr sz="7086"/>
            </a:lvl7pPr>
            <a:lvl8pPr>
              <a:defRPr sz="7086"/>
            </a:lvl8pPr>
            <a:lvl9pPr>
              <a:defRPr sz="7086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1" y="12960191"/>
            <a:ext cx="10449614" cy="24010358"/>
          </a:xfrm>
        </p:spPr>
        <p:txBody>
          <a:bodyPr/>
          <a:lstStyle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793FE-9174-4BCA-8FC1-2C151984D1DA}" type="datetimeFigureOut">
              <a:rPr lang="pt-BR" smtClean="0"/>
              <a:t>13/11/2024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2CB0-136A-46C6-A53C-3315DE620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6923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880042"/>
            <a:ext cx="10449614" cy="10080149"/>
          </a:xfrm>
        </p:spPr>
        <p:txBody>
          <a:bodyPr anchor="b"/>
          <a:lstStyle>
            <a:lvl1pPr>
              <a:defRPr sz="1133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73917" y="6220102"/>
            <a:ext cx="16402140" cy="30700453"/>
          </a:xfrm>
        </p:spPr>
        <p:txBody>
          <a:bodyPr anchor="t"/>
          <a:lstStyle>
            <a:lvl1pPr marL="0" indent="0">
              <a:buNone/>
              <a:defRPr sz="11338"/>
            </a:lvl1pPr>
            <a:lvl2pPr marL="1619951" indent="0">
              <a:buNone/>
              <a:defRPr sz="9921"/>
            </a:lvl2pPr>
            <a:lvl3pPr marL="3239902" indent="0">
              <a:buNone/>
              <a:defRPr sz="8504"/>
            </a:lvl3pPr>
            <a:lvl4pPr marL="4859853" indent="0">
              <a:buNone/>
              <a:defRPr sz="7086"/>
            </a:lvl4pPr>
            <a:lvl5pPr marL="6479804" indent="0">
              <a:buNone/>
              <a:defRPr sz="7086"/>
            </a:lvl5pPr>
            <a:lvl6pPr marL="8099755" indent="0">
              <a:buNone/>
              <a:defRPr sz="7086"/>
            </a:lvl6pPr>
            <a:lvl7pPr marL="9719706" indent="0">
              <a:buNone/>
              <a:defRPr sz="7086"/>
            </a:lvl7pPr>
            <a:lvl8pPr marL="11339657" indent="0">
              <a:buNone/>
              <a:defRPr sz="7086"/>
            </a:lvl8pPr>
            <a:lvl9pPr marL="12959608" indent="0">
              <a:buNone/>
              <a:defRPr sz="7086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1" y="12960191"/>
            <a:ext cx="10449614" cy="24010358"/>
          </a:xfrm>
        </p:spPr>
        <p:txBody>
          <a:bodyPr/>
          <a:lstStyle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793FE-9174-4BCA-8FC1-2C151984D1DA}" type="datetimeFigureOut">
              <a:rPr lang="pt-BR" smtClean="0"/>
              <a:t>13/11/2024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2CB0-136A-46C6-A53C-3315DE620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812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793FE-9174-4BCA-8FC1-2C151984D1DA}" type="datetimeFigureOut">
              <a:rPr lang="pt-BR" smtClean="0"/>
              <a:t>13/11/2024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2CB0-136A-46C6-A53C-3315DE620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7427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185742" y="2300034"/>
            <a:ext cx="6986096" cy="3661054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27453" y="2300034"/>
            <a:ext cx="20553298" cy="36610544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793FE-9174-4BCA-8FC1-2C151984D1DA}" type="datetimeFigureOut">
              <a:rPr lang="pt-BR" smtClean="0"/>
              <a:t>13/11/2024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2CB0-136A-46C6-A53C-3315DE620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2586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27451" y="2300044"/>
            <a:ext cx="27944386" cy="8350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7451" y="11500170"/>
            <a:ext cx="27944386" cy="27410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A793FE-9174-4BCA-8FC1-2C151984D1DA}" type="datetimeFigureOut">
              <a:rPr lang="pt-BR" smtClean="0"/>
              <a:t>13/11/2024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102CB0-136A-46C6-A53C-3315DE620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5065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239902" rtl="0" eaLnBrk="1" latinLnBrk="0" hangingPunct="1">
        <a:lnSpc>
          <a:spcPct val="90000"/>
        </a:lnSpc>
        <a:spcBef>
          <a:spcPct val="0"/>
        </a:spcBef>
        <a:buNone/>
        <a:defRPr sz="155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09976" indent="-809976" algn="l" defTabSz="3239902" rtl="0" eaLnBrk="1" latinLnBrk="0" hangingPunct="1">
        <a:lnSpc>
          <a:spcPct val="90000"/>
        </a:lnSpc>
        <a:spcBef>
          <a:spcPts val="3543"/>
        </a:spcBef>
        <a:buFont typeface="Arial" panose="020B0604020202020204" pitchFamily="34" charset="0"/>
        <a:buChar char="•"/>
        <a:defRPr sz="9921" kern="1200">
          <a:solidFill>
            <a:schemeClr val="tx1"/>
          </a:solidFill>
          <a:latin typeface="+mn-lt"/>
          <a:ea typeface="+mn-ea"/>
          <a:cs typeface="+mn-cs"/>
        </a:defRPr>
      </a:lvl1pPr>
      <a:lvl2pPr marL="2429927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8504" kern="1200">
          <a:solidFill>
            <a:schemeClr val="tx1"/>
          </a:solidFill>
          <a:latin typeface="+mn-lt"/>
          <a:ea typeface="+mn-ea"/>
          <a:cs typeface="+mn-cs"/>
        </a:defRPr>
      </a:lvl2pPr>
      <a:lvl3pPr marL="4049878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7086" kern="1200">
          <a:solidFill>
            <a:schemeClr val="tx1"/>
          </a:solidFill>
          <a:latin typeface="+mn-lt"/>
          <a:ea typeface="+mn-ea"/>
          <a:cs typeface="+mn-cs"/>
        </a:defRPr>
      </a:lvl3pPr>
      <a:lvl4pPr marL="5669829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4pPr>
      <a:lvl5pPr marL="7289780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5pPr>
      <a:lvl6pPr marL="8909731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10529682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2149633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3769584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1pPr>
      <a:lvl2pPr marL="1619951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2pPr>
      <a:lvl3pPr marL="3239902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3pPr>
      <a:lvl4pPr marL="4859853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4pPr>
      <a:lvl5pPr marL="6479804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5pPr>
      <a:lvl6pPr marL="8099755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9719706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1339657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2959608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26464"/>
            <a:ext cx="32374935" cy="9621121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EEC24DC8-A8AA-31E9-25BC-0633580E6D2A}"/>
              </a:ext>
            </a:extLst>
          </p:cNvPr>
          <p:cNvSpPr txBox="1"/>
          <p:nvPr/>
        </p:nvSpPr>
        <p:spPr>
          <a:xfrm>
            <a:off x="17115925" y="1036127"/>
            <a:ext cx="13423281" cy="3416320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pt-BR" sz="7000" dirty="0" err="1">
                <a:latin typeface="Arial Black" panose="020B0A04020102020204" pitchFamily="34" charset="0"/>
              </a:rPr>
              <a:t>Navigate</a:t>
            </a:r>
            <a:r>
              <a:rPr lang="pt-BR" sz="7000" dirty="0">
                <a:latin typeface="Arial Black" panose="020B0A04020102020204" pitchFamily="34" charset="0"/>
              </a:rPr>
              <a:t> </a:t>
            </a:r>
            <a:r>
              <a:rPr lang="pt-BR" sz="7000" dirty="0" err="1">
                <a:latin typeface="Arial Black" panose="020B0A04020102020204" pitchFamily="34" charset="0"/>
              </a:rPr>
              <a:t>Buy</a:t>
            </a:r>
            <a:r>
              <a:rPr lang="pt-BR" sz="7000" dirty="0">
                <a:latin typeface="Arial Black" panose="020B0A04020102020204" pitchFamily="34" charset="0"/>
              </a:rPr>
              <a:t>: </a:t>
            </a:r>
            <a:r>
              <a:rPr lang="pt-BR" sz="7000" dirty="0">
                <a:latin typeface="Arial" panose="020B0604020202020204" pitchFamily="34" charset="0"/>
                <a:cs typeface="Arial" panose="020B0604020202020204" pitchFamily="34" charset="0"/>
              </a:rPr>
              <a:t>Sistema Web Agregador de Compras Online Seguras e Simplificadas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00BE8362-781E-F55B-75B9-EF75444A371D}"/>
              </a:ext>
            </a:extLst>
          </p:cNvPr>
          <p:cNvSpPr txBox="1"/>
          <p:nvPr/>
        </p:nvSpPr>
        <p:spPr>
          <a:xfrm>
            <a:off x="19400762" y="4752125"/>
            <a:ext cx="8720849" cy="2862322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pt-BR" sz="6000" dirty="0"/>
              <a:t>João Pedro Silva de Oliveira</a:t>
            </a:r>
          </a:p>
          <a:p>
            <a:pPr algn="ctr"/>
            <a:r>
              <a:rPr lang="pt-BR" sz="6000" dirty="0" err="1"/>
              <a:t>Luisa</a:t>
            </a:r>
            <a:r>
              <a:rPr lang="pt-BR" sz="6000" dirty="0"/>
              <a:t> Santos Silva</a:t>
            </a:r>
          </a:p>
          <a:p>
            <a:pPr algn="ctr"/>
            <a:r>
              <a:rPr lang="pt-BR" sz="6000" dirty="0"/>
              <a:t>Vinicius Valero </a:t>
            </a:r>
            <a:r>
              <a:rPr lang="pt-BR" sz="6000" dirty="0" err="1"/>
              <a:t>Chabariberi</a:t>
            </a:r>
            <a:endParaRPr lang="pt-BR" sz="6000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0BE8362-781E-F55B-75B9-EF75444A371D}"/>
              </a:ext>
            </a:extLst>
          </p:cNvPr>
          <p:cNvSpPr txBox="1"/>
          <p:nvPr/>
        </p:nvSpPr>
        <p:spPr>
          <a:xfrm>
            <a:off x="19844583" y="8113495"/>
            <a:ext cx="7965963" cy="707886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none" rtlCol="0">
            <a:spAutoFit/>
          </a:bodyPr>
          <a:lstStyle/>
          <a:p>
            <a:r>
              <a:rPr lang="pt-BR" sz="4000" dirty="0"/>
              <a:t>Orientador Jeferson Roberto de Lima</a:t>
            </a:r>
            <a:endParaRPr lang="pt-BR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EC24DC8-A8AA-31E9-25BC-0633580E6D2A}"/>
              </a:ext>
            </a:extLst>
          </p:cNvPr>
          <p:cNvSpPr txBox="1"/>
          <p:nvPr/>
        </p:nvSpPr>
        <p:spPr>
          <a:xfrm>
            <a:off x="1118312" y="468692"/>
            <a:ext cx="13423281" cy="2123658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pt-BR" sz="6600" dirty="0">
                <a:latin typeface="Arial Black" panose="020B0A04020102020204" pitchFamily="34" charset="0"/>
              </a:rPr>
              <a:t>Trabalho de </a:t>
            </a:r>
          </a:p>
          <a:p>
            <a:pPr algn="ctr"/>
            <a:r>
              <a:rPr lang="pt-BR" sz="6600" dirty="0">
                <a:latin typeface="Arial Black" panose="020B0A04020102020204" pitchFamily="34" charset="0"/>
              </a:rPr>
              <a:t>Conclusão de Curso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8FA82F67-3523-276C-B2AA-278576E57B20}"/>
              </a:ext>
            </a:extLst>
          </p:cNvPr>
          <p:cNvCxnSpPr/>
          <p:nvPr/>
        </p:nvCxnSpPr>
        <p:spPr>
          <a:xfrm>
            <a:off x="426100" y="9752105"/>
            <a:ext cx="31401384" cy="0"/>
          </a:xfrm>
          <a:prstGeom prst="line">
            <a:avLst/>
          </a:prstGeom>
          <a:ln w="98425">
            <a:solidFill>
              <a:srgbClr val="004A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7BC274BA-817C-D096-1099-8F0540A508CE}"/>
              </a:ext>
            </a:extLst>
          </p:cNvPr>
          <p:cNvCxnSpPr/>
          <p:nvPr/>
        </p:nvCxnSpPr>
        <p:spPr>
          <a:xfrm>
            <a:off x="476900" y="40867105"/>
            <a:ext cx="31401384" cy="0"/>
          </a:xfrm>
          <a:prstGeom prst="line">
            <a:avLst/>
          </a:prstGeom>
          <a:ln w="98425">
            <a:solidFill>
              <a:srgbClr val="004A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843C5B1-E1DC-8C26-3AC0-2A327B6C1A0C}"/>
              </a:ext>
            </a:extLst>
          </p:cNvPr>
          <p:cNvSpPr txBox="1">
            <a:spLocks/>
          </p:cNvSpPr>
          <p:nvPr/>
        </p:nvSpPr>
        <p:spPr>
          <a:xfrm>
            <a:off x="451673" y="9968157"/>
            <a:ext cx="15480000" cy="903869"/>
          </a:xfrm>
          <a:prstGeom prst="rect">
            <a:avLst/>
          </a:prstGeom>
          <a:solidFill>
            <a:srgbClr val="004AAD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pt-BR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INTRODUÇÃO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75D92EF-CB95-CD39-B56B-96DFCD3580CD}"/>
              </a:ext>
            </a:extLst>
          </p:cNvPr>
          <p:cNvSpPr txBox="1">
            <a:spLocks/>
          </p:cNvSpPr>
          <p:nvPr/>
        </p:nvSpPr>
        <p:spPr>
          <a:xfrm>
            <a:off x="374954" y="23867203"/>
            <a:ext cx="15480000" cy="900000"/>
          </a:xfrm>
          <a:prstGeom prst="rect">
            <a:avLst/>
          </a:prstGeom>
          <a:solidFill>
            <a:srgbClr val="004AAD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pt-BR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OBJETIVO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380EB5E5-2ADB-B873-5B4A-C3A783D051D5}"/>
              </a:ext>
            </a:extLst>
          </p:cNvPr>
          <p:cNvSpPr txBox="1">
            <a:spLocks/>
          </p:cNvSpPr>
          <p:nvPr/>
        </p:nvSpPr>
        <p:spPr>
          <a:xfrm>
            <a:off x="16373057" y="9944843"/>
            <a:ext cx="15480000" cy="903869"/>
          </a:xfrm>
          <a:prstGeom prst="rect">
            <a:avLst/>
          </a:prstGeom>
          <a:solidFill>
            <a:srgbClr val="004AAD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pt-BR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RESULTADOS E DISCUSSÃO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802EE557-1498-C45F-E52B-9472A816B4C4}"/>
              </a:ext>
            </a:extLst>
          </p:cNvPr>
          <p:cNvSpPr txBox="1">
            <a:spLocks/>
          </p:cNvSpPr>
          <p:nvPr/>
        </p:nvSpPr>
        <p:spPr>
          <a:xfrm>
            <a:off x="16373057" y="23842971"/>
            <a:ext cx="15480000" cy="918951"/>
          </a:xfrm>
          <a:prstGeom prst="rect">
            <a:avLst/>
          </a:prstGeom>
          <a:solidFill>
            <a:srgbClr val="004AAD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pt-BR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CONCLUSÃO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22FE4024-8F9D-7669-5F7B-DC3ACF8A1B6C}"/>
              </a:ext>
            </a:extLst>
          </p:cNvPr>
          <p:cNvSpPr txBox="1">
            <a:spLocks/>
          </p:cNvSpPr>
          <p:nvPr/>
        </p:nvSpPr>
        <p:spPr>
          <a:xfrm>
            <a:off x="16424203" y="30998632"/>
            <a:ext cx="15480000" cy="918951"/>
          </a:xfrm>
          <a:prstGeom prst="rect">
            <a:avLst/>
          </a:prstGeom>
          <a:solidFill>
            <a:srgbClr val="004AAD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pt-BR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REFERÊNCIAS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A58C3F61-268F-1FE5-152C-28EBCBED6F2F}"/>
              </a:ext>
            </a:extLst>
          </p:cNvPr>
          <p:cNvSpPr txBox="1"/>
          <p:nvPr/>
        </p:nvSpPr>
        <p:spPr>
          <a:xfrm>
            <a:off x="451673" y="11265878"/>
            <a:ext cx="15428854" cy="12964318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600"/>
              </a:spcAft>
            </a:pPr>
            <a:r>
              <a:rPr lang="pt-BR" sz="35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 </a:t>
            </a:r>
            <a:r>
              <a:rPr lang="pt-BR" sz="3500" i="1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Navigate</a:t>
            </a:r>
            <a:r>
              <a:rPr lang="pt-BR" sz="3500" i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pt-BR" sz="3500" i="1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Buy</a:t>
            </a:r>
            <a:r>
              <a:rPr lang="pt-BR" sz="35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foca no desenvolvimento de um sistema web que busque assegurar e simplificar a experiência do consumidor nas compras online. Conforme o site E-Commerce Brasil (2024</a:t>
            </a:r>
            <a:r>
              <a:rPr lang="pt-BR" sz="3500" kern="10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), o </a:t>
            </a:r>
            <a:r>
              <a:rPr lang="pt-BR" sz="35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e-commerce está projetado para crescer de R$ 349 bilhões para R$ 557 bilhões no intervalo entre 2023 e 2027, evidenciando a transição dos padrões de consumo. Com esse aumento, a necessidade de ferramentas que tornem as compras online mais seguras e simplificadas tornou-se crucial. </a:t>
            </a:r>
          </a:p>
          <a:p>
            <a:pPr algn="just">
              <a:lnSpc>
                <a:spcPct val="107000"/>
              </a:lnSpc>
              <a:spcAft>
                <a:spcPts val="600"/>
              </a:spcAft>
            </a:pPr>
            <a:r>
              <a:rPr lang="pt-BR" sz="35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Apesar da facilidade e acessibilidade das compras online, os consumidores enfrentam dificuldades com a análise de melhores ofertas e a verificação da segurança dos sites de compra. Segundo </a:t>
            </a:r>
            <a:r>
              <a:rPr lang="pt-BR" sz="35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Bolzani</a:t>
            </a:r>
            <a:r>
              <a:rPr lang="pt-BR" sz="35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(2022)</a:t>
            </a:r>
            <a:r>
              <a:rPr lang="pt-BR" sz="35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um levantamento feito em conjunto com a Opinion Box pela </a:t>
            </a:r>
            <a:r>
              <a:rPr lang="pt-BR" sz="35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Octadesk</a:t>
            </a:r>
            <a:r>
              <a:rPr lang="pt-BR" sz="35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mostrou que 73% dos consumidores declaram que os preços na internet são mais acessíveis. Porém, de acordo com Faustino e Lobato (2023), uma verificação feita pelo </a:t>
            </a:r>
            <a:r>
              <a:rPr lang="pt-BR" sz="35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Fórum Brasileiro de Segurança Pública (FBSP) </a:t>
            </a:r>
            <a:r>
              <a:rPr lang="pt-BR" sz="35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apresenta que, em 2022, houve uma elevação de 65,2% de fraudes em âmbito online. </a:t>
            </a:r>
          </a:p>
          <a:p>
            <a:pPr algn="just">
              <a:lnSpc>
                <a:spcPct val="107000"/>
              </a:lnSpc>
              <a:spcAft>
                <a:spcPts val="600"/>
              </a:spcAft>
            </a:pPr>
            <a:r>
              <a:rPr lang="pt-BR" sz="35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Diante dessa problemática, a hipótese central é a implementação de um sistema web agregador de compras online que facilite a tomada de decisões dos consumidores, integrando a análise de lojas e seus respectivos produtos, apresentação de diferentes preços e comentários de avaliação para uma melhor comparação, conversão de moedas em tempo real e uma seguridade mais eficiente em suas compras.</a:t>
            </a:r>
            <a:endParaRPr lang="pt-BR" sz="35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/>
            <a:endParaRPr lang="pt-BR" sz="3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949D99AC-65F0-373D-EBD5-964AF958DE5C}"/>
              </a:ext>
            </a:extLst>
          </p:cNvPr>
          <p:cNvSpPr txBox="1">
            <a:spLocks/>
          </p:cNvSpPr>
          <p:nvPr/>
        </p:nvSpPr>
        <p:spPr>
          <a:xfrm>
            <a:off x="426100" y="33430740"/>
            <a:ext cx="15480000" cy="900000"/>
          </a:xfrm>
          <a:prstGeom prst="rect">
            <a:avLst/>
          </a:prstGeom>
          <a:solidFill>
            <a:srgbClr val="004AAD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pt-BR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METODOLOGIA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72D671E2-8A11-E3C7-C78E-A657BD253953}"/>
              </a:ext>
            </a:extLst>
          </p:cNvPr>
          <p:cNvSpPr txBox="1"/>
          <p:nvPr/>
        </p:nvSpPr>
        <p:spPr>
          <a:xfrm>
            <a:off x="16424203" y="11275387"/>
            <a:ext cx="15428854" cy="4939814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just"/>
            <a:r>
              <a:rPr lang="pt-BR" sz="35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Considerando as análises realizadas, com mais de 25 mil ofertas disponíveis para análise, surgiu o </a:t>
            </a:r>
            <a:r>
              <a:rPr lang="pt-BR" sz="3500" i="1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Navigate</a:t>
            </a:r>
            <a:r>
              <a:rPr lang="pt-BR" sz="3500" i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pt-BR" sz="3500" i="1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Buy</a:t>
            </a:r>
            <a:r>
              <a:rPr lang="pt-BR" sz="35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um sistema que centraliza funcionalidades </a:t>
            </a:r>
            <a:r>
              <a:rPr lang="pt-BR" sz="3500" kern="1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que </a:t>
            </a:r>
            <a:r>
              <a:rPr lang="pt-BR" sz="35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ajudam os consumidores a buscar produtos de forma segura e simplificada em um único ambiente, promovendo maior otimização de tempo, redução de custos para o público-alvo e facilidade na tomada de decisões online. No entanto, o projeto enfrenta limitações devido à dependência de sites confiáveis e restrições de acesso, o que limita a análise de produtos, exigindo ampliação de </a:t>
            </a:r>
            <a:r>
              <a:rPr lang="pt-BR" sz="3500" kern="1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influência e</a:t>
            </a:r>
            <a:r>
              <a:rPr lang="pt-BR" sz="35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futuramente, parcerias para melhor atender à demanda dos consumidores.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D3944005-02B0-F03E-9333-11104E41D943}"/>
              </a:ext>
            </a:extLst>
          </p:cNvPr>
          <p:cNvSpPr txBox="1"/>
          <p:nvPr/>
        </p:nvSpPr>
        <p:spPr>
          <a:xfrm>
            <a:off x="374954" y="25008017"/>
            <a:ext cx="15428854" cy="8123378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just"/>
            <a:r>
              <a:rPr lang="pt-BR" sz="35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</a:t>
            </a:r>
            <a:r>
              <a:rPr lang="pt-BR" sz="35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esenvolver um sistema web que permita que os consumidores comparem produtos e preços entre diferentes lojas verificadas, </a:t>
            </a:r>
            <a:r>
              <a:rPr lang="pt-BR" sz="35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buscando</a:t>
            </a:r>
            <a:r>
              <a:rPr lang="pt-BR" sz="35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uma maior segurança em suas compras, analisando as avaliações vigentes de diversos produtos com base em conteúdos de sites de reclamação e sendo possível ver conversões de moedas em tempo real para maior acessibilidade. </a:t>
            </a:r>
            <a:r>
              <a:rPr lang="pt-BR" sz="35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Dentre os principais objetivos específicos, estão inclusos:</a:t>
            </a:r>
          </a:p>
          <a:p>
            <a:pPr marL="342900" lvl="0" indent="-342900" algn="just">
              <a:lnSpc>
                <a:spcPct val="107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pt-BR" sz="35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Aprofundar</a:t>
            </a:r>
            <a:r>
              <a:rPr lang="pt-BR" sz="3500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pt-BR" sz="35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as pesquisas e estudos sobre as dificuldades dos consumidores em seus processos de compra online; </a:t>
            </a:r>
          </a:p>
          <a:p>
            <a:pPr marL="342900" lvl="0" indent="-342900" algn="just">
              <a:lnSpc>
                <a:spcPct val="107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pt-BR" sz="35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Analisar os principais requisitos de um sistema web que vise facilitar as dificuldades enfrentadas pelos compradores;</a:t>
            </a:r>
          </a:p>
          <a:p>
            <a:pPr marL="342900" lvl="0" indent="-342900" algn="just">
              <a:lnSpc>
                <a:spcPct val="107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pt-BR" sz="35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Fornecer conversão de moedas em tempo real, examinando como isso facilita a transparência nos preços e reduz a incerteza do consumidor;</a:t>
            </a:r>
          </a:p>
          <a:p>
            <a:pPr marL="342900" lvl="0" indent="-342900" algn="just">
              <a:lnSpc>
                <a:spcPct val="107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pt-BR" sz="35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Explorar o impacto da comparação de preços e comentários de avaliação na tomada de decisões dos consumidores.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4E79EEED-9B97-E757-3CBF-6AC3F827EFD2}"/>
              </a:ext>
            </a:extLst>
          </p:cNvPr>
          <p:cNvSpPr txBox="1"/>
          <p:nvPr/>
        </p:nvSpPr>
        <p:spPr>
          <a:xfrm>
            <a:off x="426100" y="34660303"/>
            <a:ext cx="15428854" cy="5916107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Os métodos empregados incluem a pesquisa qualitativa para investigar as dificuldades enfrentadas pelos consumidores e o impacto de um sistema web agregador de compras online seguras e simplificadas. Para isso, dados estatísticos foram coletados e analisados com o objetivo de desenvolver uma ferramenta eficaz que atendesse às necessidades identificadas, facilitando a tomada de decisões nas compras online.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Nesse contexto, o desenvolvimento deste projeto foi fundamentado em livros, artigos, notícias e sites. Além disso, para a implementação prática, foram empregadas diversas tecnologias e técnicas de programação, consideradas essenciais para alcançar os objetivos propostos.</a:t>
            </a:r>
            <a:endParaRPr lang="en-US" sz="3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AEC2F642-EFBE-80D4-6A99-4B6C46259596}"/>
              </a:ext>
            </a:extLst>
          </p:cNvPr>
          <p:cNvSpPr txBox="1"/>
          <p:nvPr/>
        </p:nvSpPr>
        <p:spPr>
          <a:xfrm>
            <a:off x="16398630" y="25008311"/>
            <a:ext cx="15428854" cy="5813515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BR" sz="35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Após o desenvolvimento do projeto, ficou evidente a relevância do sistema web no cotidiano dos consumidores online, especialmente em um cenário onde o e-commerce cresce rapidamente, no qual os objetivos estabelecidos no começo desse estudo foram concluídos com êxito, em que sob esse viés oferece uma solução aos resultados da problemática encontrada, destacando a importância da implementação do sistema web como uma ferramenta crucial não apenas para projeções futuras, mas também para atender às demandas atuais dos consumidores, contribuindo tanto para a esfera acadêmica quanto para o avanço nas compras online, promovendo um crescimento contínuo no ambiente virtual.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19042ED0-6B84-8011-C482-A7EE65EE79CE}"/>
              </a:ext>
            </a:extLst>
          </p:cNvPr>
          <p:cNvSpPr txBox="1"/>
          <p:nvPr/>
        </p:nvSpPr>
        <p:spPr>
          <a:xfrm>
            <a:off x="16398496" y="31491576"/>
            <a:ext cx="15428854" cy="9417963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just"/>
            <a:endParaRPr lang="en-US" sz="3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33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BOLZANI, Isabela. </a:t>
            </a:r>
            <a:r>
              <a:rPr lang="pt-BR" sz="3300" b="1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61% dos brasileiros compram mais pela internet do que em lojas físicas, aponta estudo</a:t>
            </a:r>
            <a:r>
              <a:rPr lang="pt-BR" sz="33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G1globo, 2022. Disponível em: https://g1.globo.com/economia/noticia/2022/12/14/61percent-dos-brasileiros-compram-mais-pela-internet-do-que-em-lojas-fisicas-aponta-estudo.ghtml. Acesso em: 24 mar. 2024.</a:t>
            </a:r>
            <a:endParaRPr lang="pt-BR" sz="33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sz="3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pt-BR" sz="33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E-COMMERCE BRASIL. </a:t>
            </a:r>
            <a:r>
              <a:rPr lang="pt-BR" sz="3300" b="1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 impulso do e-commerce no Brasil</a:t>
            </a:r>
            <a:r>
              <a:rPr lang="pt-BR" sz="33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perspectivas até 2027. 2024. Disponível em: https://www.ecommercebrasil.com.br/artigos/o-impulso-do-e-commerce-no-brasil-perspectivas-ate-2027. Acesso em: 04 jun. 2024.</a:t>
            </a:r>
            <a:endParaRPr lang="pt-BR" sz="3300" kern="1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endParaRPr lang="pt-BR" sz="33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pt-BR" sz="33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FAUSTINO, Marco; LOBATO, Gisele. </a:t>
            </a:r>
            <a:r>
              <a:rPr lang="pt-BR" sz="3300" b="1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Golpes virtuais crescem 65% com brasileiros passando mais tempo na internet</a:t>
            </a:r>
            <a:r>
              <a:rPr lang="pt-BR" sz="33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Terra, 2023. Disponível em: https://www.terra.com.br/noticias/checamos/golpes-virtuais-crescem-65-com-brasileiros-passando-mais-tempo-na-internet,5b5a67f228cff03faf6084e2fc39eaa6oq7kkt7m.html. Acesso em: 28 mar. 2024.</a:t>
            </a:r>
            <a:endParaRPr lang="pt-BR" sz="33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28" name="Imagem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899" y="40991117"/>
            <a:ext cx="31312351" cy="2059729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2" y="4977652"/>
            <a:ext cx="5981278" cy="3770353"/>
          </a:xfrm>
          <a:prstGeom prst="rect">
            <a:avLst/>
          </a:prstGeom>
        </p:spPr>
      </p:pic>
      <p:pic>
        <p:nvPicPr>
          <p:cNvPr id="29" name="Imagem 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1628" y="41413325"/>
            <a:ext cx="3355506" cy="1299480"/>
          </a:xfrm>
          <a:prstGeom prst="rect">
            <a:avLst/>
          </a:prstGeom>
        </p:spPr>
      </p:pic>
      <p:pic>
        <p:nvPicPr>
          <p:cNvPr id="30" name="Imagem 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241756" y="41595058"/>
            <a:ext cx="4477002" cy="1014021"/>
          </a:xfrm>
          <a:prstGeom prst="rect">
            <a:avLst/>
          </a:prstGeom>
        </p:spPr>
      </p:pic>
      <p:sp>
        <p:nvSpPr>
          <p:cNvPr id="31" name="CaixaDeTexto 30">
            <a:extLst>
              <a:ext uri="{FF2B5EF4-FFF2-40B4-BE49-F238E27FC236}">
                <a16:creationId xmlns:a16="http://schemas.microsoft.com/office/drawing/2014/main" id="{4E67AF63-8667-635A-BF46-35A3729B08EC}"/>
              </a:ext>
            </a:extLst>
          </p:cNvPr>
          <p:cNvSpPr txBox="1"/>
          <p:nvPr/>
        </p:nvSpPr>
        <p:spPr>
          <a:xfrm>
            <a:off x="-2574333" y="2862673"/>
            <a:ext cx="16205200" cy="1692771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pt-BR" sz="5400" dirty="0" err="1">
                <a:solidFill>
                  <a:srgbClr val="004AAD"/>
                </a:solidFill>
                <a:latin typeface="Arial Black" panose="020B0A04020102020204" pitchFamily="34" charset="0"/>
              </a:rPr>
              <a:t>Mtec</a:t>
            </a:r>
            <a:r>
              <a:rPr lang="pt-BR" sz="5000" dirty="0">
                <a:solidFill>
                  <a:srgbClr val="004AAD"/>
                </a:solidFill>
                <a:latin typeface="Arial Black" panose="020B0A04020102020204" pitchFamily="34" charset="0"/>
              </a:rPr>
              <a:t> Desenvolvimento </a:t>
            </a:r>
          </a:p>
          <a:p>
            <a:pPr algn="ctr"/>
            <a:r>
              <a:rPr lang="pt-BR" sz="5000" dirty="0">
                <a:solidFill>
                  <a:srgbClr val="004AAD"/>
                </a:solidFill>
                <a:latin typeface="Arial Black" panose="020B0A04020102020204" pitchFamily="34" charset="0"/>
              </a:rPr>
              <a:t>de Sistemas - AMS</a:t>
            </a:r>
          </a:p>
        </p:txBody>
      </p:sp>
      <p:pic>
        <p:nvPicPr>
          <p:cNvPr id="34" name="Imagem 33" descr="Interface gráfica do usuário&#10;&#10;Descrição gerada automaticamente">
            <a:extLst>
              <a:ext uri="{FF2B5EF4-FFF2-40B4-BE49-F238E27FC236}">
                <a16:creationId xmlns:a16="http://schemas.microsoft.com/office/drawing/2014/main" id="{6A814EAD-A5A7-C714-8440-B21DF047E30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2" t="2420" r="1641" b="3687"/>
          <a:stretch/>
        </p:blipFill>
        <p:spPr>
          <a:xfrm>
            <a:off x="16579577" y="16368346"/>
            <a:ext cx="15171573" cy="6760029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36" name="CaixaDeTexto 35">
            <a:extLst>
              <a:ext uri="{FF2B5EF4-FFF2-40B4-BE49-F238E27FC236}">
                <a16:creationId xmlns:a16="http://schemas.microsoft.com/office/drawing/2014/main" id="{76126E92-FEF3-DC0A-8612-F1D5216EDAD6}"/>
              </a:ext>
            </a:extLst>
          </p:cNvPr>
          <p:cNvSpPr txBox="1"/>
          <p:nvPr/>
        </p:nvSpPr>
        <p:spPr>
          <a:xfrm>
            <a:off x="15372628" y="23001009"/>
            <a:ext cx="17583150" cy="474104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pt-BR" sz="25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Fonte: Do próprio autor, 2024</a:t>
            </a:r>
          </a:p>
        </p:txBody>
      </p:sp>
    </p:spTree>
    <p:extLst>
      <p:ext uri="{BB962C8B-B14F-4D97-AF65-F5344CB8AC3E}">
        <p14:creationId xmlns:p14="http://schemas.microsoft.com/office/powerpoint/2010/main" val="35007149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  <a:effectLst>
          <a:glow rad="127000">
            <a:schemeClr val="bg1">
              <a:alpha val="0"/>
            </a:schemeClr>
          </a:glow>
          <a:outerShdw blurRad="50800" dist="50800" dir="5400000" algn="ctr" rotWithShape="0">
            <a:srgbClr val="000000">
              <a:alpha val="0"/>
            </a:srgbClr>
          </a:outerShdw>
        </a:effectLst>
      </a:spPr>
      <a:bodyPr wrap="square" rtlCol="0">
        <a:spAutoFit/>
      </a:bodyPr>
      <a:lstStyle>
        <a:defPPr>
          <a:defRPr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2E5C36DC49DC47B79D6C51D023A389" ma:contentTypeVersion="16" ma:contentTypeDescription="Create a new document." ma:contentTypeScope="" ma:versionID="e7e20fa943c965f522ed2b0ce7d8180f">
  <xsd:schema xmlns:xsd="http://www.w3.org/2001/XMLSchema" xmlns:xs="http://www.w3.org/2001/XMLSchema" xmlns:p="http://schemas.microsoft.com/office/2006/metadata/properties" xmlns:ns3="208637c5-b928-4ac1-9566-a5150cdb1a83" xmlns:ns4="38f2b181-4ec1-4078-9999-c91a6c0e85ba" targetNamespace="http://schemas.microsoft.com/office/2006/metadata/properties" ma:root="true" ma:fieldsID="31b6384b52b329d4c571a2ec64b6026e" ns3:_="" ns4:_="">
    <xsd:import namespace="208637c5-b928-4ac1-9566-a5150cdb1a83"/>
    <xsd:import namespace="38f2b181-4ec1-4078-9999-c91a6c0e85b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LengthInSeconds" minOccurs="0"/>
                <xsd:element ref="ns3:MediaServiceAutoTags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8637c5-b928-4ac1-9566-a5150cdb1a8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f2b181-4ec1-4078-9999-c91a6c0e85ba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08637c5-b928-4ac1-9566-a5150cdb1a83" xsi:nil="true"/>
  </documentManagement>
</p:properties>
</file>

<file path=customXml/itemProps1.xml><?xml version="1.0" encoding="utf-8"?>
<ds:datastoreItem xmlns:ds="http://schemas.openxmlformats.org/officeDocument/2006/customXml" ds:itemID="{C4DDB40E-67F2-430E-BF43-874B9958C6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08637c5-b928-4ac1-9566-a5150cdb1a83"/>
    <ds:schemaRef ds:uri="38f2b181-4ec1-4078-9999-c91a6c0e85b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A205DE6-5DC4-47B1-903A-668B2CE7121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4DA18AF-243D-4439-9D83-636A320948A4}">
  <ds:schemaRefs>
    <ds:schemaRef ds:uri="http://purl.org/dc/terms/"/>
    <ds:schemaRef ds:uri="38f2b181-4ec1-4078-9999-c91a6c0e85ba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elements/1.1/"/>
    <ds:schemaRef ds:uri="http://purl.org/dc/dcmitype/"/>
    <ds:schemaRef ds:uri="http://schemas.microsoft.com/office/infopath/2007/PartnerControls"/>
    <ds:schemaRef ds:uri="http://schemas.microsoft.com/office/2006/documentManagement/types"/>
    <ds:schemaRef ds:uri="208637c5-b928-4ac1-9566-a5150cdb1a8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1449</TotalTime>
  <Words>907</Words>
  <Application>Microsoft Office PowerPoint</Application>
  <PresentationFormat>Personalizar</PresentationFormat>
  <Paragraphs>34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Arial</vt:lpstr>
      <vt:lpstr>Arial Black</vt:lpstr>
      <vt:lpstr>Calibri</vt:lpstr>
      <vt:lpstr>Calibri Light</vt:lpstr>
      <vt:lpstr>Symbol</vt:lpstr>
      <vt:lpstr>Times New Roman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Leandro Pedroza</dc:creator>
  <cp:lastModifiedBy>Admin</cp:lastModifiedBy>
  <cp:revision>56</cp:revision>
  <cp:lastPrinted>2023-05-23T23:18:43Z</cp:lastPrinted>
  <dcterms:created xsi:type="dcterms:W3CDTF">2018-10-09T21:24:59Z</dcterms:created>
  <dcterms:modified xsi:type="dcterms:W3CDTF">2024-11-13T17:55:39Z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0x010100282E5C36DC49DC47B79D6C51D023A389</vt:lpwstr>
  </property>
</Properties>
</file>